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K Grotesk" charset="1" panose="00000500000000000000"/>
      <p:regular r:id="rId17"/>
    </p:embeddedFont>
    <p:embeddedFont>
      <p:font typeface="Cy Grotesk Key" charset="1" panose="00000500000000000000"/>
      <p:regular r:id="rId18"/>
    </p:embeddedFont>
    <p:embeddedFont>
      <p:font typeface="Cy Grotesk Key Light" charset="1" panose="00000400000000000000"/>
      <p:regular r:id="rId19"/>
    </p:embeddedFont>
    <p:embeddedFont>
      <p:font typeface="HK Grotesk Light Italics" charset="1" panose="00000400000000000000"/>
      <p:regular r:id="rId20"/>
    </p:embeddedFont>
    <p:embeddedFont>
      <p:font typeface="HK Grotesk Bold" charset="1" panose="00000800000000000000"/>
      <p:regular r:id="rId21"/>
    </p:embeddedFont>
    <p:embeddedFont>
      <p:font typeface="HK Grotesk Light" charset="1" panose="000004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sentimatix-production.up.railway.app/portal/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https://sentimatix-production.up.railway.app/portal/" TargetMode="External" Type="http://schemas.openxmlformats.org/officeDocument/2006/relationships/hyperlink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7864552"/>
            <a:ext cx="16230600" cy="149974"/>
            <a:chOff x="0" y="0"/>
            <a:chExt cx="4052983" cy="37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37450"/>
            </a:xfrm>
            <a:custGeom>
              <a:avLst/>
              <a:gdLst/>
              <a:ahLst/>
              <a:cxnLst/>
              <a:rect r="r" b="b" t="t" l="l"/>
              <a:pathLst>
                <a:path h="37450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921196" y="8574834"/>
            <a:ext cx="355174" cy="355174"/>
          </a:xfrm>
          <a:custGeom>
            <a:avLst/>
            <a:gdLst/>
            <a:ahLst/>
            <a:cxnLst/>
            <a:rect r="r" b="b" t="t" l="l"/>
            <a:pathLst>
              <a:path h="355174" w="355174">
                <a:moveTo>
                  <a:pt x="0" y="0"/>
                </a:moveTo>
                <a:lnTo>
                  <a:pt x="355174" y="0"/>
                </a:lnTo>
                <a:lnTo>
                  <a:pt x="355174" y="355174"/>
                </a:lnTo>
                <a:lnTo>
                  <a:pt x="0" y="3551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92267" y="8580002"/>
            <a:ext cx="2581084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18"/>
              </a:lnSpc>
            </a:pPr>
            <a:r>
              <a:rPr lang="en-US" sz="1798" spc="-7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NSE | Indian Equities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661174" y="8573398"/>
            <a:ext cx="358045" cy="358045"/>
          </a:xfrm>
          <a:custGeom>
            <a:avLst/>
            <a:gdLst/>
            <a:ahLst/>
            <a:cxnLst/>
            <a:rect r="r" b="b" t="t" l="l"/>
            <a:pathLst>
              <a:path h="358045" w="358045">
                <a:moveTo>
                  <a:pt x="0" y="0"/>
                </a:moveTo>
                <a:lnTo>
                  <a:pt x="358044" y="0"/>
                </a:lnTo>
                <a:lnTo>
                  <a:pt x="358044" y="358045"/>
                </a:lnTo>
                <a:lnTo>
                  <a:pt x="0" y="3580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307554" y="1034898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6" y="0"/>
                </a:lnTo>
                <a:lnTo>
                  <a:pt x="308536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98790" y="4538677"/>
            <a:ext cx="12882266" cy="179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13"/>
              </a:lnSpc>
              <a:spcBef>
                <a:spcPct val="0"/>
              </a:spcBef>
            </a:pPr>
            <a:r>
              <a:rPr lang="en-US" sz="8266" spc="-661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Structuring the Unstructured Indian Market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8790" y="2117956"/>
            <a:ext cx="15330465" cy="112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69"/>
              </a:lnSpc>
              <a:spcBef>
                <a:spcPct val="0"/>
              </a:spcBef>
            </a:pPr>
            <a:r>
              <a:rPr lang="en-US" sz="9837" spc="-786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Sentimatix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7554" y="6910665"/>
            <a:ext cx="16066822" cy="743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9"/>
              </a:lnSpc>
              <a:spcBef>
                <a:spcPct val="0"/>
              </a:spcBef>
            </a:pPr>
            <a:r>
              <a:rPr lang="en-US" sz="3387" spc="945">
                <a:solidFill>
                  <a:srgbClr val="F9F9F9"/>
                </a:solidFill>
                <a:latin typeface="Cy Grotesk Key Light"/>
                <a:ea typeface="Cy Grotesk Key Light"/>
                <a:cs typeface="Cy Grotesk Key Light"/>
                <a:sym typeface="Cy Grotesk Key Light"/>
              </a:rPr>
              <a:t>Real-time Sentiment Analysis &amp; Financial News API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35115" y="8580002"/>
            <a:ext cx="329763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8" spc="-71" u="sng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10" tooltip="https://sentimatix-production.up.railway.app/portal/"/>
              </a:rPr>
              <a:t>SENTIMATIX LINK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7554" y="8457146"/>
            <a:ext cx="4958259" cy="514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sz="2997" spc="-10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For Institutional Investors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72242" y="1123950"/>
            <a:ext cx="4895164" cy="29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8"/>
              </a:lnSpc>
              <a:spcBef>
                <a:spcPct val="0"/>
              </a:spcBef>
            </a:pPr>
            <a:r>
              <a:rPr lang="en-US" sz="2598" spc="-20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Sentimatix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52317" y="1123950"/>
            <a:ext cx="2875326" cy="29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8"/>
              </a:lnSpc>
              <a:spcBef>
                <a:spcPct val="0"/>
              </a:spcBef>
            </a:pPr>
            <a:r>
              <a:rPr lang="en-US" sz="2598" spc="-20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7554" y="1034898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6" y="0"/>
                </a:lnTo>
                <a:lnTo>
                  <a:pt x="308536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569930"/>
            <a:ext cx="16230600" cy="63804"/>
            <a:chOff x="0" y="0"/>
            <a:chExt cx="4052983" cy="15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72242" y="1123950"/>
            <a:ext cx="4895164" cy="29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8"/>
              </a:lnSpc>
              <a:spcBef>
                <a:spcPct val="0"/>
              </a:spcBef>
            </a:pPr>
            <a:r>
              <a:rPr lang="en-US" sz="2598" spc="-20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Sentimatix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12343" y="1123950"/>
            <a:ext cx="4715299" cy="29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8"/>
              </a:lnSpc>
              <a:spcBef>
                <a:spcPct val="0"/>
              </a:spcBef>
            </a:pPr>
            <a:r>
              <a:rPr lang="en-US" sz="2598" spc="-207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Pitch Deck Business Presentation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12629" y="2233512"/>
            <a:ext cx="6846671" cy="7024788"/>
            <a:chOff x="0" y="0"/>
            <a:chExt cx="1803239" cy="18501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03239" cy="1850150"/>
            </a:xfrm>
            <a:custGeom>
              <a:avLst/>
              <a:gdLst/>
              <a:ahLst/>
              <a:cxnLst/>
              <a:rect r="r" b="b" t="t" l="l"/>
              <a:pathLst>
                <a:path h="1850150" w="1803239">
                  <a:moveTo>
                    <a:pt x="57669" y="0"/>
                  </a:moveTo>
                  <a:lnTo>
                    <a:pt x="1745570" y="0"/>
                  </a:lnTo>
                  <a:cubicBezTo>
                    <a:pt x="1777419" y="0"/>
                    <a:pt x="1803239" y="25819"/>
                    <a:pt x="1803239" y="57669"/>
                  </a:cubicBezTo>
                  <a:lnTo>
                    <a:pt x="1803239" y="1792481"/>
                  </a:lnTo>
                  <a:cubicBezTo>
                    <a:pt x="1803239" y="1824331"/>
                    <a:pt x="1777419" y="1850150"/>
                    <a:pt x="1745570" y="1850150"/>
                  </a:cubicBezTo>
                  <a:lnTo>
                    <a:pt x="57669" y="1850150"/>
                  </a:lnTo>
                  <a:cubicBezTo>
                    <a:pt x="25819" y="1850150"/>
                    <a:pt x="0" y="1824331"/>
                    <a:pt x="0" y="1792481"/>
                  </a:cubicBezTo>
                  <a:lnTo>
                    <a:pt x="0" y="57669"/>
                  </a:lnTo>
                  <a:cubicBezTo>
                    <a:pt x="0" y="25819"/>
                    <a:pt x="25819" y="0"/>
                    <a:pt x="576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803239" cy="1916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4533056"/>
            <a:ext cx="11099246" cy="114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99"/>
              </a:lnSpc>
              <a:spcBef>
                <a:spcPct val="0"/>
              </a:spcBef>
            </a:pPr>
            <a:r>
              <a:rPr lang="en-US" sz="9999" spc="-799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The Problem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873328"/>
            <a:ext cx="7291346" cy="1341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8"/>
              </a:lnSpc>
            </a:pPr>
            <a:r>
              <a:rPr lang="en-US" sz="1998" spc="-10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The Indian financial market is drowning in unstructured information. Institutional investors and quant funds face critical bottlenecks in accessing timely, machine-readable market intelligence — limiting their ability to act on real-time signals.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12792" y="3571610"/>
            <a:ext cx="6071251" cy="179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6"/>
              </a:lnSpc>
            </a:pPr>
            <a:r>
              <a:rPr lang="en-US" sz="1898" i="true" spc="-68">
                <a:solidFill>
                  <a:srgbClr val="FFFFFF"/>
                </a:solidFill>
                <a:latin typeface="HK Grotesk Light Italics"/>
                <a:ea typeface="HK Grotesk Light Italics"/>
                <a:cs typeface="HK Grotesk Light Italics"/>
                <a:sym typeface="HK Grotesk Light Italics"/>
              </a:rPr>
              <a:t>The NSE ecosystem generates thousands of financial news articles, regulatory filings, and market updates every single day. 80% of actionable market data remains trapped in unstructured text — inaccessible to algorithmic trading systems and quantitative models without significant preprocessing.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12792" y="6770841"/>
            <a:ext cx="6071251" cy="179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6"/>
              </a:lnSpc>
            </a:pPr>
            <a:r>
              <a:rPr lang="en-US" sz="1898" i="true" spc="-68">
                <a:solidFill>
                  <a:srgbClr val="FFFFFF"/>
                </a:solidFill>
                <a:latin typeface="HK Grotesk Light Italics"/>
                <a:ea typeface="HK Grotesk Light Italics"/>
                <a:cs typeface="HK Grotesk Light Italics"/>
                <a:sym typeface="HK Grotesk Light Italics"/>
              </a:rPr>
              <a:t>Funds and financial institutions spend excessive engineering resources building and maintaining custom NLP pipelines just to parse raw news — time and capital that should be directed toward alpha generation and trading model development, not data plumbing.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26783" y="2843150"/>
            <a:ext cx="3691110" cy="5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5"/>
              </a:lnSpc>
            </a:pPr>
            <a:r>
              <a:rPr lang="en-US" b="true" sz="279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 Overload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26783" y="6042381"/>
            <a:ext cx="3691110" cy="5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5"/>
              </a:lnSpc>
            </a:pPr>
            <a:r>
              <a:rPr lang="en-US" b="true" sz="279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Wasted Resources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7554" y="1034898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6" y="0"/>
                </a:lnTo>
                <a:lnTo>
                  <a:pt x="308536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569930"/>
            <a:ext cx="16230600" cy="63804"/>
            <a:chOff x="0" y="0"/>
            <a:chExt cx="4052983" cy="15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72242" y="1123950"/>
            <a:ext cx="4895164" cy="276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2448" spc="-195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Sentimatix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12343" y="1123950"/>
            <a:ext cx="4715299" cy="276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2448" spc="-195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Real-time Sentiment &amp; Financial News API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82106" y="5390676"/>
            <a:ext cx="7680288" cy="3867624"/>
            <a:chOff x="0" y="0"/>
            <a:chExt cx="2022792" cy="10186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22792" cy="1018634"/>
            </a:xfrm>
            <a:custGeom>
              <a:avLst/>
              <a:gdLst/>
              <a:ahLst/>
              <a:cxnLst/>
              <a:rect r="r" b="b" t="t" l="l"/>
              <a:pathLst>
                <a:path h="1018634" w="2022792">
                  <a:moveTo>
                    <a:pt x="51409" y="0"/>
                  </a:moveTo>
                  <a:lnTo>
                    <a:pt x="1971383" y="0"/>
                  </a:lnTo>
                  <a:cubicBezTo>
                    <a:pt x="1999775" y="0"/>
                    <a:pt x="2022792" y="23017"/>
                    <a:pt x="2022792" y="51409"/>
                  </a:cubicBezTo>
                  <a:lnTo>
                    <a:pt x="2022792" y="967224"/>
                  </a:lnTo>
                  <a:cubicBezTo>
                    <a:pt x="2022792" y="995617"/>
                    <a:pt x="1999775" y="1018634"/>
                    <a:pt x="1971383" y="1018634"/>
                  </a:cubicBezTo>
                  <a:lnTo>
                    <a:pt x="51409" y="1018634"/>
                  </a:lnTo>
                  <a:cubicBezTo>
                    <a:pt x="23017" y="1018634"/>
                    <a:pt x="0" y="995617"/>
                    <a:pt x="0" y="967224"/>
                  </a:cubicBezTo>
                  <a:lnTo>
                    <a:pt x="0" y="51409"/>
                  </a:lnTo>
                  <a:cubicBezTo>
                    <a:pt x="0" y="23017"/>
                    <a:pt x="23017" y="0"/>
                    <a:pt x="514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022792" cy="1085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25606" y="5390676"/>
            <a:ext cx="7680288" cy="3867624"/>
            <a:chOff x="0" y="0"/>
            <a:chExt cx="2022792" cy="10186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22792" cy="1018634"/>
            </a:xfrm>
            <a:custGeom>
              <a:avLst/>
              <a:gdLst/>
              <a:ahLst/>
              <a:cxnLst/>
              <a:rect r="r" b="b" t="t" l="l"/>
              <a:pathLst>
                <a:path h="1018634" w="2022792">
                  <a:moveTo>
                    <a:pt x="51409" y="0"/>
                  </a:moveTo>
                  <a:lnTo>
                    <a:pt x="1971383" y="0"/>
                  </a:lnTo>
                  <a:cubicBezTo>
                    <a:pt x="1999775" y="0"/>
                    <a:pt x="2022792" y="23017"/>
                    <a:pt x="2022792" y="51409"/>
                  </a:cubicBezTo>
                  <a:lnTo>
                    <a:pt x="2022792" y="967224"/>
                  </a:lnTo>
                  <a:cubicBezTo>
                    <a:pt x="2022792" y="995617"/>
                    <a:pt x="1999775" y="1018634"/>
                    <a:pt x="1971383" y="1018634"/>
                  </a:cubicBezTo>
                  <a:lnTo>
                    <a:pt x="51409" y="1018634"/>
                  </a:lnTo>
                  <a:cubicBezTo>
                    <a:pt x="23017" y="1018634"/>
                    <a:pt x="0" y="995617"/>
                    <a:pt x="0" y="967224"/>
                  </a:cubicBezTo>
                  <a:lnTo>
                    <a:pt x="0" y="51409"/>
                  </a:lnTo>
                  <a:cubicBezTo>
                    <a:pt x="0" y="23017"/>
                    <a:pt x="23017" y="0"/>
                    <a:pt x="514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022792" cy="1085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97006" y="2512141"/>
            <a:ext cx="7604761" cy="215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99"/>
              </a:lnSpc>
            </a:pPr>
            <a:r>
              <a:rPr lang="en-US" sz="9999" spc="-799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The</a:t>
            </a:r>
          </a:p>
          <a:p>
            <a:pPr algn="l" marL="0" indent="0" lvl="0">
              <a:lnSpc>
                <a:spcPts val="7999"/>
              </a:lnSpc>
            </a:pPr>
            <a:r>
              <a:rPr lang="en-US" sz="9999" spc="-799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Opportunity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84964" y="2243488"/>
            <a:ext cx="9174336" cy="94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6"/>
              </a:lnSpc>
            </a:pPr>
            <a:r>
              <a:rPr lang="en-US" sz="1883" spc="-10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The NSE (National Stock Exchange) is one of the fastest-growing exchanges globally, with daily trading volumes rivalling major developed markets. Yet the data infrastructure serving Indian equities remains years behind its Western counterparts, creating a rare first-mover window.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84964" y="3631304"/>
            <a:ext cx="9174336" cy="94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6"/>
              </a:lnSpc>
            </a:pPr>
            <a:r>
              <a:rPr lang="en-US" sz="1883" spc="-10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Demand for quantitative, machine-readable financial news data for Indian equities is massively underserved compared to US markets. Bloomberg and Refinitiv offer limited India-specific NLP coverage, leaving institutional quant funds without the structured sentiment signals they need.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15228" y="8003438"/>
            <a:ext cx="7086538" cy="826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6"/>
              </a:lnSpc>
            </a:pPr>
            <a:r>
              <a:rPr lang="en-US" sz="1789" i="true" spc="-64">
                <a:solidFill>
                  <a:srgbClr val="FFFFFF"/>
                </a:solidFill>
                <a:latin typeface="HK Grotesk Light Italics"/>
                <a:ea typeface="HK Grotesk Light Italics"/>
                <a:cs typeface="HK Grotesk Light Italics"/>
                <a:sym typeface="HK Grotesk Light Italics"/>
              </a:rPr>
              <a:t>NSE ranks among the world's top 3 exchanges by equity derivatives volume, yet machine-readable news data coverage for Indian equities remains critically underdeveloped.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30528" y="8003438"/>
            <a:ext cx="7086538" cy="826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6"/>
              </a:lnSpc>
            </a:pPr>
            <a:r>
              <a:rPr lang="en-US" sz="1789" i="true" spc="-64">
                <a:solidFill>
                  <a:srgbClr val="FFFFFF"/>
                </a:solidFill>
                <a:latin typeface="HK Grotesk Light Italics"/>
                <a:ea typeface="HK Grotesk Light Italics"/>
                <a:cs typeface="HK Grotesk Light Italics"/>
                <a:sym typeface="HK Grotesk Light Italics"/>
              </a:rPr>
              <a:t>US equity markets have over 10x more structured NLP data providers than Indian markets — a massive gap representing a direct commercial opportunity for Sentimatix.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9219" y="7354207"/>
            <a:ext cx="3691110" cy="5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5"/>
              </a:lnSpc>
            </a:pPr>
            <a:r>
              <a:rPr lang="en-US" b="true" sz="279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NSE Global Rank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44519" y="7354207"/>
            <a:ext cx="3691110" cy="5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5"/>
              </a:lnSpc>
            </a:pPr>
            <a:r>
              <a:rPr lang="en-US" b="true" sz="279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 Coverage Gap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15228" y="5378086"/>
            <a:ext cx="3309142" cy="194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43"/>
              </a:lnSpc>
            </a:pPr>
            <a:r>
              <a:rPr lang="en-US" b="true" sz="1069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#3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30528" y="5378086"/>
            <a:ext cx="6479483" cy="194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43"/>
              </a:lnSpc>
            </a:pPr>
            <a:r>
              <a:rPr lang="en-US" b="true" sz="1069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10x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7554" y="1034898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6" y="0"/>
                </a:lnTo>
                <a:lnTo>
                  <a:pt x="308536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569930"/>
            <a:ext cx="16230600" cy="63804"/>
            <a:chOff x="0" y="0"/>
            <a:chExt cx="4052983" cy="15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38588" y="2018423"/>
            <a:ext cx="7612070" cy="3686536"/>
            <a:chOff x="0" y="0"/>
            <a:chExt cx="2004825" cy="9709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04825" cy="970940"/>
            </a:xfrm>
            <a:custGeom>
              <a:avLst/>
              <a:gdLst/>
              <a:ahLst/>
              <a:cxnLst/>
              <a:rect r="r" b="b" t="t" l="l"/>
              <a:pathLst>
                <a:path h="970940" w="2004825">
                  <a:moveTo>
                    <a:pt x="51870" y="0"/>
                  </a:moveTo>
                  <a:lnTo>
                    <a:pt x="1952955" y="0"/>
                  </a:lnTo>
                  <a:cubicBezTo>
                    <a:pt x="1966712" y="0"/>
                    <a:pt x="1979905" y="5465"/>
                    <a:pt x="1989633" y="15192"/>
                  </a:cubicBezTo>
                  <a:cubicBezTo>
                    <a:pt x="1999360" y="24920"/>
                    <a:pt x="2004825" y="38113"/>
                    <a:pt x="2004825" y="51870"/>
                  </a:cubicBezTo>
                  <a:lnTo>
                    <a:pt x="2004825" y="919070"/>
                  </a:lnTo>
                  <a:cubicBezTo>
                    <a:pt x="2004825" y="932826"/>
                    <a:pt x="1999360" y="946020"/>
                    <a:pt x="1989633" y="955747"/>
                  </a:cubicBezTo>
                  <a:cubicBezTo>
                    <a:pt x="1979905" y="965475"/>
                    <a:pt x="1966712" y="970940"/>
                    <a:pt x="1952955" y="970940"/>
                  </a:cubicBezTo>
                  <a:lnTo>
                    <a:pt x="51870" y="970940"/>
                  </a:lnTo>
                  <a:cubicBezTo>
                    <a:pt x="38113" y="970940"/>
                    <a:pt x="24920" y="965475"/>
                    <a:pt x="15192" y="955747"/>
                  </a:cubicBezTo>
                  <a:cubicBezTo>
                    <a:pt x="5465" y="946020"/>
                    <a:pt x="0" y="932826"/>
                    <a:pt x="0" y="919070"/>
                  </a:cubicBezTo>
                  <a:lnTo>
                    <a:pt x="0" y="51870"/>
                  </a:lnTo>
                  <a:cubicBezTo>
                    <a:pt x="0" y="38113"/>
                    <a:pt x="5465" y="24920"/>
                    <a:pt x="15192" y="15192"/>
                  </a:cubicBezTo>
                  <a:cubicBezTo>
                    <a:pt x="24920" y="5465"/>
                    <a:pt x="38113" y="0"/>
                    <a:pt x="518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004825" cy="1037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37342" y="2018423"/>
            <a:ext cx="7612070" cy="3686536"/>
            <a:chOff x="0" y="0"/>
            <a:chExt cx="2004825" cy="9709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04825" cy="970940"/>
            </a:xfrm>
            <a:custGeom>
              <a:avLst/>
              <a:gdLst/>
              <a:ahLst/>
              <a:cxnLst/>
              <a:rect r="r" b="b" t="t" l="l"/>
              <a:pathLst>
                <a:path h="970940" w="2004825">
                  <a:moveTo>
                    <a:pt x="51870" y="0"/>
                  </a:moveTo>
                  <a:lnTo>
                    <a:pt x="1952955" y="0"/>
                  </a:lnTo>
                  <a:cubicBezTo>
                    <a:pt x="1966712" y="0"/>
                    <a:pt x="1979905" y="5465"/>
                    <a:pt x="1989633" y="15192"/>
                  </a:cubicBezTo>
                  <a:cubicBezTo>
                    <a:pt x="1999360" y="24920"/>
                    <a:pt x="2004825" y="38113"/>
                    <a:pt x="2004825" y="51870"/>
                  </a:cubicBezTo>
                  <a:lnTo>
                    <a:pt x="2004825" y="919070"/>
                  </a:lnTo>
                  <a:cubicBezTo>
                    <a:pt x="2004825" y="932826"/>
                    <a:pt x="1999360" y="946020"/>
                    <a:pt x="1989633" y="955747"/>
                  </a:cubicBezTo>
                  <a:cubicBezTo>
                    <a:pt x="1979905" y="965475"/>
                    <a:pt x="1966712" y="970940"/>
                    <a:pt x="1952955" y="970940"/>
                  </a:cubicBezTo>
                  <a:lnTo>
                    <a:pt x="51870" y="970940"/>
                  </a:lnTo>
                  <a:cubicBezTo>
                    <a:pt x="38113" y="970940"/>
                    <a:pt x="24920" y="965475"/>
                    <a:pt x="15192" y="955747"/>
                  </a:cubicBezTo>
                  <a:cubicBezTo>
                    <a:pt x="5465" y="946020"/>
                    <a:pt x="0" y="932826"/>
                    <a:pt x="0" y="919070"/>
                  </a:cubicBezTo>
                  <a:lnTo>
                    <a:pt x="0" y="51870"/>
                  </a:lnTo>
                  <a:cubicBezTo>
                    <a:pt x="0" y="38113"/>
                    <a:pt x="5465" y="24920"/>
                    <a:pt x="15192" y="15192"/>
                  </a:cubicBezTo>
                  <a:cubicBezTo>
                    <a:pt x="24920" y="5465"/>
                    <a:pt x="38113" y="0"/>
                    <a:pt x="518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004825" cy="1037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062929" y="2195578"/>
            <a:ext cx="1451888" cy="1242758"/>
          </a:xfrm>
          <a:custGeom>
            <a:avLst/>
            <a:gdLst/>
            <a:ahLst/>
            <a:cxnLst/>
            <a:rect r="r" b="b" t="t" l="l"/>
            <a:pathLst>
              <a:path h="1242758" w="1451888">
                <a:moveTo>
                  <a:pt x="0" y="0"/>
                </a:moveTo>
                <a:lnTo>
                  <a:pt x="1451888" y="0"/>
                </a:lnTo>
                <a:lnTo>
                  <a:pt x="1451888" y="1242758"/>
                </a:lnTo>
                <a:lnTo>
                  <a:pt x="0" y="12427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076639" y="2195376"/>
            <a:ext cx="1125910" cy="942491"/>
          </a:xfrm>
          <a:custGeom>
            <a:avLst/>
            <a:gdLst/>
            <a:ahLst/>
            <a:cxnLst/>
            <a:rect r="r" b="b" t="t" l="l"/>
            <a:pathLst>
              <a:path h="942491" w="1125910">
                <a:moveTo>
                  <a:pt x="0" y="0"/>
                </a:moveTo>
                <a:lnTo>
                  <a:pt x="1125910" y="0"/>
                </a:lnTo>
                <a:lnTo>
                  <a:pt x="1125910" y="942492"/>
                </a:lnTo>
                <a:lnTo>
                  <a:pt x="0" y="9424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72242" y="1123950"/>
            <a:ext cx="4895164" cy="29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8"/>
              </a:lnSpc>
              <a:spcBef>
                <a:spcPct val="0"/>
              </a:spcBef>
            </a:pPr>
            <a:r>
              <a:rPr lang="en-US" sz="2598" spc="-20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Sentimatix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12343" y="1123950"/>
            <a:ext cx="4715299" cy="29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8"/>
              </a:lnSpc>
              <a:spcBef>
                <a:spcPct val="0"/>
              </a:spcBef>
            </a:pPr>
            <a:r>
              <a:rPr lang="en-US" sz="2598" spc="-207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Pitch Deck Business 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7490" y="7059828"/>
            <a:ext cx="11239246" cy="114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99"/>
              </a:lnSpc>
              <a:spcBef>
                <a:spcPct val="0"/>
              </a:spcBef>
            </a:pPr>
            <a:r>
              <a:rPr lang="en-US" sz="9999" spc="-799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Our Solution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76672" y="6650253"/>
            <a:ext cx="4013308" cy="167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8"/>
              </a:lnSpc>
            </a:pPr>
            <a:r>
              <a:rPr lang="en-US" sz="1998" spc="-10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Sentimatix transforms the way institutional investors interact with Indian market data — turning unstructured noise into structured, actionable intelligence at the speed of the market.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03275" y="3890582"/>
            <a:ext cx="6767822" cy="106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6"/>
              </a:lnSpc>
            </a:pPr>
            <a:r>
              <a:rPr lang="en-US" sz="1898" i="true" spc="-68">
                <a:solidFill>
                  <a:srgbClr val="FFFFFF"/>
                </a:solidFill>
                <a:latin typeface="HK Grotesk Light Italics"/>
                <a:ea typeface="HK Grotesk Light Italics"/>
                <a:cs typeface="HK Grotesk Light Italics"/>
                <a:sym typeface="HK Grotesk Light Italics"/>
              </a:rPr>
              <a:t>Sentimatix ingests, cleans, entity-links, and scores Indian financial news in real-time. A single API call replaces months of NLP pipeline development for institutional quant teams.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02029" y="3890582"/>
            <a:ext cx="6767822" cy="106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6"/>
              </a:lnSpc>
            </a:pPr>
            <a:r>
              <a:rPr lang="en-US" sz="1898" i="true" spc="-68">
                <a:solidFill>
                  <a:srgbClr val="FFFFFF"/>
                </a:solidFill>
                <a:latin typeface="HK Grotesk Light Italics"/>
                <a:ea typeface="HK Grotesk Light Italics"/>
                <a:cs typeface="HK Grotesk Light Italics"/>
                <a:sym typeface="HK Grotesk Light Italics"/>
              </a:rPr>
              <a:t>Converts noisy, unstructured financial news into quantifiable alpha signals. Raw News → AI Processing → Sentiment Scores → API Output — delivered in milliseconds.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03275" y="3111790"/>
            <a:ext cx="3691110" cy="5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5"/>
              </a:lnSpc>
            </a:pPr>
            <a:r>
              <a:rPr lang="en-US" b="true" sz="279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Turnkey API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02029" y="3111790"/>
            <a:ext cx="3691110" cy="5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5"/>
              </a:lnSpc>
            </a:pPr>
            <a:r>
              <a:rPr lang="en-US" b="true" sz="279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Alpha Signals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017357" y="2428269"/>
            <a:ext cx="195032" cy="19503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016111" y="2428269"/>
            <a:ext cx="195032" cy="195032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03275" y="2428269"/>
            <a:ext cx="195032" cy="195032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802029" y="2428269"/>
            <a:ext cx="195032" cy="195032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7554" y="1034898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6" y="0"/>
                </a:lnTo>
                <a:lnTo>
                  <a:pt x="308536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9442" y="4209522"/>
            <a:ext cx="7456794" cy="885770"/>
            <a:chOff x="0" y="0"/>
            <a:chExt cx="1963929" cy="2332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63929" cy="233289"/>
            </a:xfrm>
            <a:custGeom>
              <a:avLst/>
              <a:gdLst/>
              <a:ahLst/>
              <a:cxnLst/>
              <a:rect r="r" b="b" t="t" l="l"/>
              <a:pathLst>
                <a:path h="233289" w="1963929">
                  <a:moveTo>
                    <a:pt x="52950" y="0"/>
                  </a:moveTo>
                  <a:lnTo>
                    <a:pt x="1910979" y="0"/>
                  </a:lnTo>
                  <a:cubicBezTo>
                    <a:pt x="1925022" y="0"/>
                    <a:pt x="1938491" y="5579"/>
                    <a:pt x="1948421" y="15509"/>
                  </a:cubicBezTo>
                  <a:cubicBezTo>
                    <a:pt x="1958351" y="25439"/>
                    <a:pt x="1963929" y="38907"/>
                    <a:pt x="1963929" y="52950"/>
                  </a:cubicBezTo>
                  <a:lnTo>
                    <a:pt x="1963929" y="180339"/>
                  </a:lnTo>
                  <a:cubicBezTo>
                    <a:pt x="1963929" y="194382"/>
                    <a:pt x="1958351" y="207850"/>
                    <a:pt x="1948421" y="217781"/>
                  </a:cubicBezTo>
                  <a:cubicBezTo>
                    <a:pt x="1938491" y="227711"/>
                    <a:pt x="1925022" y="233289"/>
                    <a:pt x="1910979" y="233289"/>
                  </a:cubicBezTo>
                  <a:lnTo>
                    <a:pt x="52950" y="233289"/>
                  </a:lnTo>
                  <a:cubicBezTo>
                    <a:pt x="38907" y="233289"/>
                    <a:pt x="25439" y="227711"/>
                    <a:pt x="15509" y="217781"/>
                  </a:cubicBezTo>
                  <a:cubicBezTo>
                    <a:pt x="5579" y="207850"/>
                    <a:pt x="0" y="194382"/>
                    <a:pt x="0" y="180339"/>
                  </a:cubicBezTo>
                  <a:lnTo>
                    <a:pt x="0" y="52950"/>
                  </a:lnTo>
                  <a:cubicBezTo>
                    <a:pt x="0" y="38907"/>
                    <a:pt x="5579" y="25439"/>
                    <a:pt x="15509" y="15509"/>
                  </a:cubicBezTo>
                  <a:cubicBezTo>
                    <a:pt x="25439" y="5579"/>
                    <a:pt x="38907" y="0"/>
                    <a:pt x="52950" y="0"/>
                  </a:cubicBezTo>
                  <a:close/>
                </a:path>
              </a:pathLst>
            </a:custGeom>
            <a:solidFill>
              <a:srgbClr val="0082B2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963929" cy="299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4025" y="4209522"/>
            <a:ext cx="7456794" cy="885770"/>
            <a:chOff x="0" y="0"/>
            <a:chExt cx="1963929" cy="2332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63929" cy="233289"/>
            </a:xfrm>
            <a:custGeom>
              <a:avLst/>
              <a:gdLst/>
              <a:ahLst/>
              <a:cxnLst/>
              <a:rect r="r" b="b" t="t" l="l"/>
              <a:pathLst>
                <a:path h="233289" w="1963929">
                  <a:moveTo>
                    <a:pt x="52950" y="0"/>
                  </a:moveTo>
                  <a:lnTo>
                    <a:pt x="1910979" y="0"/>
                  </a:lnTo>
                  <a:cubicBezTo>
                    <a:pt x="1925022" y="0"/>
                    <a:pt x="1938491" y="5579"/>
                    <a:pt x="1948421" y="15509"/>
                  </a:cubicBezTo>
                  <a:cubicBezTo>
                    <a:pt x="1958351" y="25439"/>
                    <a:pt x="1963929" y="38907"/>
                    <a:pt x="1963929" y="52950"/>
                  </a:cubicBezTo>
                  <a:lnTo>
                    <a:pt x="1963929" y="180339"/>
                  </a:lnTo>
                  <a:cubicBezTo>
                    <a:pt x="1963929" y="194382"/>
                    <a:pt x="1958351" y="207850"/>
                    <a:pt x="1948421" y="217781"/>
                  </a:cubicBezTo>
                  <a:cubicBezTo>
                    <a:pt x="1938491" y="227711"/>
                    <a:pt x="1925022" y="233289"/>
                    <a:pt x="1910979" y="233289"/>
                  </a:cubicBezTo>
                  <a:lnTo>
                    <a:pt x="52950" y="233289"/>
                  </a:lnTo>
                  <a:cubicBezTo>
                    <a:pt x="38907" y="233289"/>
                    <a:pt x="25439" y="227711"/>
                    <a:pt x="15509" y="217781"/>
                  </a:cubicBezTo>
                  <a:cubicBezTo>
                    <a:pt x="5579" y="207850"/>
                    <a:pt x="0" y="194382"/>
                    <a:pt x="0" y="180339"/>
                  </a:cubicBezTo>
                  <a:lnTo>
                    <a:pt x="0" y="52950"/>
                  </a:lnTo>
                  <a:cubicBezTo>
                    <a:pt x="0" y="38907"/>
                    <a:pt x="5579" y="25439"/>
                    <a:pt x="15509" y="15509"/>
                  </a:cubicBezTo>
                  <a:cubicBezTo>
                    <a:pt x="25439" y="5579"/>
                    <a:pt x="38907" y="0"/>
                    <a:pt x="529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963929" cy="299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9442" y="5276639"/>
            <a:ext cx="7456794" cy="885770"/>
            <a:chOff x="0" y="0"/>
            <a:chExt cx="1963929" cy="2332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63929" cy="233289"/>
            </a:xfrm>
            <a:custGeom>
              <a:avLst/>
              <a:gdLst/>
              <a:ahLst/>
              <a:cxnLst/>
              <a:rect r="r" b="b" t="t" l="l"/>
              <a:pathLst>
                <a:path h="233289" w="1963929">
                  <a:moveTo>
                    <a:pt x="52950" y="0"/>
                  </a:moveTo>
                  <a:lnTo>
                    <a:pt x="1910979" y="0"/>
                  </a:lnTo>
                  <a:cubicBezTo>
                    <a:pt x="1925022" y="0"/>
                    <a:pt x="1938491" y="5579"/>
                    <a:pt x="1948421" y="15509"/>
                  </a:cubicBezTo>
                  <a:cubicBezTo>
                    <a:pt x="1958351" y="25439"/>
                    <a:pt x="1963929" y="38907"/>
                    <a:pt x="1963929" y="52950"/>
                  </a:cubicBezTo>
                  <a:lnTo>
                    <a:pt x="1963929" y="180339"/>
                  </a:lnTo>
                  <a:cubicBezTo>
                    <a:pt x="1963929" y="194382"/>
                    <a:pt x="1958351" y="207850"/>
                    <a:pt x="1948421" y="217781"/>
                  </a:cubicBezTo>
                  <a:cubicBezTo>
                    <a:pt x="1938491" y="227711"/>
                    <a:pt x="1925022" y="233289"/>
                    <a:pt x="1910979" y="233289"/>
                  </a:cubicBezTo>
                  <a:lnTo>
                    <a:pt x="52950" y="233289"/>
                  </a:lnTo>
                  <a:cubicBezTo>
                    <a:pt x="38907" y="233289"/>
                    <a:pt x="25439" y="227711"/>
                    <a:pt x="15509" y="217781"/>
                  </a:cubicBezTo>
                  <a:cubicBezTo>
                    <a:pt x="5579" y="207850"/>
                    <a:pt x="0" y="194382"/>
                    <a:pt x="0" y="180339"/>
                  </a:cubicBezTo>
                  <a:lnTo>
                    <a:pt x="0" y="52950"/>
                  </a:lnTo>
                  <a:cubicBezTo>
                    <a:pt x="0" y="38907"/>
                    <a:pt x="5579" y="25439"/>
                    <a:pt x="15509" y="15509"/>
                  </a:cubicBezTo>
                  <a:cubicBezTo>
                    <a:pt x="25439" y="5579"/>
                    <a:pt x="38907" y="0"/>
                    <a:pt x="529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963929" cy="299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84025" y="5276639"/>
            <a:ext cx="7456794" cy="885770"/>
            <a:chOff x="0" y="0"/>
            <a:chExt cx="1963929" cy="2332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63929" cy="233289"/>
            </a:xfrm>
            <a:custGeom>
              <a:avLst/>
              <a:gdLst/>
              <a:ahLst/>
              <a:cxnLst/>
              <a:rect r="r" b="b" t="t" l="l"/>
              <a:pathLst>
                <a:path h="233289" w="1963929">
                  <a:moveTo>
                    <a:pt x="52950" y="0"/>
                  </a:moveTo>
                  <a:lnTo>
                    <a:pt x="1910979" y="0"/>
                  </a:lnTo>
                  <a:cubicBezTo>
                    <a:pt x="1925022" y="0"/>
                    <a:pt x="1938491" y="5579"/>
                    <a:pt x="1948421" y="15509"/>
                  </a:cubicBezTo>
                  <a:cubicBezTo>
                    <a:pt x="1958351" y="25439"/>
                    <a:pt x="1963929" y="38907"/>
                    <a:pt x="1963929" y="52950"/>
                  </a:cubicBezTo>
                  <a:lnTo>
                    <a:pt x="1963929" y="180339"/>
                  </a:lnTo>
                  <a:cubicBezTo>
                    <a:pt x="1963929" y="194382"/>
                    <a:pt x="1958351" y="207850"/>
                    <a:pt x="1948421" y="217781"/>
                  </a:cubicBezTo>
                  <a:cubicBezTo>
                    <a:pt x="1938491" y="227711"/>
                    <a:pt x="1925022" y="233289"/>
                    <a:pt x="1910979" y="233289"/>
                  </a:cubicBezTo>
                  <a:lnTo>
                    <a:pt x="52950" y="233289"/>
                  </a:lnTo>
                  <a:cubicBezTo>
                    <a:pt x="38907" y="233289"/>
                    <a:pt x="25439" y="227711"/>
                    <a:pt x="15509" y="217781"/>
                  </a:cubicBezTo>
                  <a:cubicBezTo>
                    <a:pt x="5579" y="207850"/>
                    <a:pt x="0" y="194382"/>
                    <a:pt x="0" y="180339"/>
                  </a:cubicBezTo>
                  <a:lnTo>
                    <a:pt x="0" y="52950"/>
                  </a:lnTo>
                  <a:cubicBezTo>
                    <a:pt x="0" y="38907"/>
                    <a:pt x="5579" y="25439"/>
                    <a:pt x="15509" y="15509"/>
                  </a:cubicBezTo>
                  <a:cubicBezTo>
                    <a:pt x="25439" y="5579"/>
                    <a:pt x="38907" y="0"/>
                    <a:pt x="529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963929" cy="299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59442" y="6343757"/>
            <a:ext cx="7456794" cy="885770"/>
            <a:chOff x="0" y="0"/>
            <a:chExt cx="1963929" cy="2332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63929" cy="233289"/>
            </a:xfrm>
            <a:custGeom>
              <a:avLst/>
              <a:gdLst/>
              <a:ahLst/>
              <a:cxnLst/>
              <a:rect r="r" b="b" t="t" l="l"/>
              <a:pathLst>
                <a:path h="233289" w="1963929">
                  <a:moveTo>
                    <a:pt x="52950" y="0"/>
                  </a:moveTo>
                  <a:lnTo>
                    <a:pt x="1910979" y="0"/>
                  </a:lnTo>
                  <a:cubicBezTo>
                    <a:pt x="1925022" y="0"/>
                    <a:pt x="1938491" y="5579"/>
                    <a:pt x="1948421" y="15509"/>
                  </a:cubicBezTo>
                  <a:cubicBezTo>
                    <a:pt x="1958351" y="25439"/>
                    <a:pt x="1963929" y="38907"/>
                    <a:pt x="1963929" y="52950"/>
                  </a:cubicBezTo>
                  <a:lnTo>
                    <a:pt x="1963929" y="180339"/>
                  </a:lnTo>
                  <a:cubicBezTo>
                    <a:pt x="1963929" y="194382"/>
                    <a:pt x="1958351" y="207850"/>
                    <a:pt x="1948421" y="217781"/>
                  </a:cubicBezTo>
                  <a:cubicBezTo>
                    <a:pt x="1938491" y="227711"/>
                    <a:pt x="1925022" y="233289"/>
                    <a:pt x="1910979" y="233289"/>
                  </a:cubicBezTo>
                  <a:lnTo>
                    <a:pt x="52950" y="233289"/>
                  </a:lnTo>
                  <a:cubicBezTo>
                    <a:pt x="38907" y="233289"/>
                    <a:pt x="25439" y="227711"/>
                    <a:pt x="15509" y="217781"/>
                  </a:cubicBezTo>
                  <a:cubicBezTo>
                    <a:pt x="5579" y="207850"/>
                    <a:pt x="0" y="194382"/>
                    <a:pt x="0" y="180339"/>
                  </a:cubicBezTo>
                  <a:lnTo>
                    <a:pt x="0" y="52950"/>
                  </a:lnTo>
                  <a:cubicBezTo>
                    <a:pt x="0" y="38907"/>
                    <a:pt x="5579" y="25439"/>
                    <a:pt x="15509" y="15509"/>
                  </a:cubicBezTo>
                  <a:cubicBezTo>
                    <a:pt x="25439" y="5579"/>
                    <a:pt x="38907" y="0"/>
                    <a:pt x="529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963929" cy="299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284025" y="6343757"/>
            <a:ext cx="7456794" cy="885770"/>
            <a:chOff x="0" y="0"/>
            <a:chExt cx="1963929" cy="2332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63929" cy="233289"/>
            </a:xfrm>
            <a:custGeom>
              <a:avLst/>
              <a:gdLst/>
              <a:ahLst/>
              <a:cxnLst/>
              <a:rect r="r" b="b" t="t" l="l"/>
              <a:pathLst>
                <a:path h="233289" w="1963929">
                  <a:moveTo>
                    <a:pt x="52950" y="0"/>
                  </a:moveTo>
                  <a:lnTo>
                    <a:pt x="1910979" y="0"/>
                  </a:lnTo>
                  <a:cubicBezTo>
                    <a:pt x="1925022" y="0"/>
                    <a:pt x="1938491" y="5579"/>
                    <a:pt x="1948421" y="15509"/>
                  </a:cubicBezTo>
                  <a:cubicBezTo>
                    <a:pt x="1958351" y="25439"/>
                    <a:pt x="1963929" y="38907"/>
                    <a:pt x="1963929" y="52950"/>
                  </a:cubicBezTo>
                  <a:lnTo>
                    <a:pt x="1963929" y="180339"/>
                  </a:lnTo>
                  <a:cubicBezTo>
                    <a:pt x="1963929" y="194382"/>
                    <a:pt x="1958351" y="207850"/>
                    <a:pt x="1948421" y="217781"/>
                  </a:cubicBezTo>
                  <a:cubicBezTo>
                    <a:pt x="1938491" y="227711"/>
                    <a:pt x="1925022" y="233289"/>
                    <a:pt x="1910979" y="233289"/>
                  </a:cubicBezTo>
                  <a:lnTo>
                    <a:pt x="52950" y="233289"/>
                  </a:lnTo>
                  <a:cubicBezTo>
                    <a:pt x="38907" y="233289"/>
                    <a:pt x="25439" y="227711"/>
                    <a:pt x="15509" y="217781"/>
                  </a:cubicBezTo>
                  <a:cubicBezTo>
                    <a:pt x="5579" y="207850"/>
                    <a:pt x="0" y="194382"/>
                    <a:pt x="0" y="180339"/>
                  </a:cubicBezTo>
                  <a:lnTo>
                    <a:pt x="0" y="52950"/>
                  </a:lnTo>
                  <a:cubicBezTo>
                    <a:pt x="0" y="38907"/>
                    <a:pt x="5579" y="25439"/>
                    <a:pt x="15509" y="15509"/>
                  </a:cubicBezTo>
                  <a:cubicBezTo>
                    <a:pt x="25439" y="5579"/>
                    <a:pt x="38907" y="0"/>
                    <a:pt x="529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963929" cy="299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59442" y="7410874"/>
            <a:ext cx="7456794" cy="885770"/>
            <a:chOff x="0" y="0"/>
            <a:chExt cx="1963929" cy="2332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63929" cy="233289"/>
            </a:xfrm>
            <a:custGeom>
              <a:avLst/>
              <a:gdLst/>
              <a:ahLst/>
              <a:cxnLst/>
              <a:rect r="r" b="b" t="t" l="l"/>
              <a:pathLst>
                <a:path h="233289" w="1963929">
                  <a:moveTo>
                    <a:pt x="52950" y="0"/>
                  </a:moveTo>
                  <a:lnTo>
                    <a:pt x="1910979" y="0"/>
                  </a:lnTo>
                  <a:cubicBezTo>
                    <a:pt x="1925022" y="0"/>
                    <a:pt x="1938491" y="5579"/>
                    <a:pt x="1948421" y="15509"/>
                  </a:cubicBezTo>
                  <a:cubicBezTo>
                    <a:pt x="1958351" y="25439"/>
                    <a:pt x="1963929" y="38907"/>
                    <a:pt x="1963929" y="52950"/>
                  </a:cubicBezTo>
                  <a:lnTo>
                    <a:pt x="1963929" y="180339"/>
                  </a:lnTo>
                  <a:cubicBezTo>
                    <a:pt x="1963929" y="194382"/>
                    <a:pt x="1958351" y="207850"/>
                    <a:pt x="1948421" y="217781"/>
                  </a:cubicBezTo>
                  <a:cubicBezTo>
                    <a:pt x="1938491" y="227711"/>
                    <a:pt x="1925022" y="233289"/>
                    <a:pt x="1910979" y="233289"/>
                  </a:cubicBezTo>
                  <a:lnTo>
                    <a:pt x="52950" y="233289"/>
                  </a:lnTo>
                  <a:cubicBezTo>
                    <a:pt x="38907" y="233289"/>
                    <a:pt x="25439" y="227711"/>
                    <a:pt x="15509" y="217781"/>
                  </a:cubicBezTo>
                  <a:cubicBezTo>
                    <a:pt x="5579" y="207850"/>
                    <a:pt x="0" y="194382"/>
                    <a:pt x="0" y="180339"/>
                  </a:cubicBezTo>
                  <a:lnTo>
                    <a:pt x="0" y="52950"/>
                  </a:lnTo>
                  <a:cubicBezTo>
                    <a:pt x="0" y="38907"/>
                    <a:pt x="5579" y="25439"/>
                    <a:pt x="15509" y="15509"/>
                  </a:cubicBezTo>
                  <a:cubicBezTo>
                    <a:pt x="25439" y="5579"/>
                    <a:pt x="38907" y="0"/>
                    <a:pt x="529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1963929" cy="299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84025" y="7410874"/>
            <a:ext cx="7456794" cy="885770"/>
            <a:chOff x="0" y="0"/>
            <a:chExt cx="1963929" cy="2332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63929" cy="233289"/>
            </a:xfrm>
            <a:custGeom>
              <a:avLst/>
              <a:gdLst/>
              <a:ahLst/>
              <a:cxnLst/>
              <a:rect r="r" b="b" t="t" l="l"/>
              <a:pathLst>
                <a:path h="233289" w="1963929">
                  <a:moveTo>
                    <a:pt x="52950" y="0"/>
                  </a:moveTo>
                  <a:lnTo>
                    <a:pt x="1910979" y="0"/>
                  </a:lnTo>
                  <a:cubicBezTo>
                    <a:pt x="1925022" y="0"/>
                    <a:pt x="1938491" y="5579"/>
                    <a:pt x="1948421" y="15509"/>
                  </a:cubicBezTo>
                  <a:cubicBezTo>
                    <a:pt x="1958351" y="25439"/>
                    <a:pt x="1963929" y="38907"/>
                    <a:pt x="1963929" y="52950"/>
                  </a:cubicBezTo>
                  <a:lnTo>
                    <a:pt x="1963929" y="180339"/>
                  </a:lnTo>
                  <a:cubicBezTo>
                    <a:pt x="1963929" y="194382"/>
                    <a:pt x="1958351" y="207850"/>
                    <a:pt x="1948421" y="217781"/>
                  </a:cubicBezTo>
                  <a:cubicBezTo>
                    <a:pt x="1938491" y="227711"/>
                    <a:pt x="1925022" y="233289"/>
                    <a:pt x="1910979" y="233289"/>
                  </a:cubicBezTo>
                  <a:lnTo>
                    <a:pt x="52950" y="233289"/>
                  </a:lnTo>
                  <a:cubicBezTo>
                    <a:pt x="38907" y="233289"/>
                    <a:pt x="25439" y="227711"/>
                    <a:pt x="15509" y="217781"/>
                  </a:cubicBezTo>
                  <a:cubicBezTo>
                    <a:pt x="5579" y="207850"/>
                    <a:pt x="0" y="194382"/>
                    <a:pt x="0" y="180339"/>
                  </a:cubicBezTo>
                  <a:lnTo>
                    <a:pt x="0" y="52950"/>
                  </a:lnTo>
                  <a:cubicBezTo>
                    <a:pt x="0" y="38907"/>
                    <a:pt x="5579" y="25439"/>
                    <a:pt x="15509" y="15509"/>
                  </a:cubicBezTo>
                  <a:cubicBezTo>
                    <a:pt x="25439" y="5579"/>
                    <a:pt x="38907" y="0"/>
                    <a:pt x="52950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1963929" cy="299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59442" y="8477991"/>
            <a:ext cx="7456794" cy="885770"/>
            <a:chOff x="0" y="0"/>
            <a:chExt cx="1963929" cy="23328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63929" cy="233289"/>
            </a:xfrm>
            <a:custGeom>
              <a:avLst/>
              <a:gdLst/>
              <a:ahLst/>
              <a:cxnLst/>
              <a:rect r="r" b="b" t="t" l="l"/>
              <a:pathLst>
                <a:path h="233289" w="1963929">
                  <a:moveTo>
                    <a:pt x="52950" y="0"/>
                  </a:moveTo>
                  <a:lnTo>
                    <a:pt x="1910979" y="0"/>
                  </a:lnTo>
                  <a:cubicBezTo>
                    <a:pt x="1925022" y="0"/>
                    <a:pt x="1938491" y="5579"/>
                    <a:pt x="1948421" y="15509"/>
                  </a:cubicBezTo>
                  <a:cubicBezTo>
                    <a:pt x="1958351" y="25439"/>
                    <a:pt x="1963929" y="38907"/>
                    <a:pt x="1963929" y="52950"/>
                  </a:cubicBezTo>
                  <a:lnTo>
                    <a:pt x="1963929" y="180339"/>
                  </a:lnTo>
                  <a:cubicBezTo>
                    <a:pt x="1963929" y="194382"/>
                    <a:pt x="1958351" y="207850"/>
                    <a:pt x="1948421" y="217781"/>
                  </a:cubicBezTo>
                  <a:cubicBezTo>
                    <a:pt x="1938491" y="227711"/>
                    <a:pt x="1925022" y="233289"/>
                    <a:pt x="1910979" y="233289"/>
                  </a:cubicBezTo>
                  <a:lnTo>
                    <a:pt x="52950" y="233289"/>
                  </a:lnTo>
                  <a:cubicBezTo>
                    <a:pt x="38907" y="233289"/>
                    <a:pt x="25439" y="227711"/>
                    <a:pt x="15509" y="217781"/>
                  </a:cubicBezTo>
                  <a:cubicBezTo>
                    <a:pt x="5579" y="207850"/>
                    <a:pt x="0" y="194382"/>
                    <a:pt x="0" y="180339"/>
                  </a:cubicBezTo>
                  <a:lnTo>
                    <a:pt x="0" y="52950"/>
                  </a:lnTo>
                  <a:cubicBezTo>
                    <a:pt x="0" y="38907"/>
                    <a:pt x="5579" y="25439"/>
                    <a:pt x="15509" y="15509"/>
                  </a:cubicBezTo>
                  <a:cubicBezTo>
                    <a:pt x="25439" y="5579"/>
                    <a:pt x="38907" y="0"/>
                    <a:pt x="529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1963929" cy="299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284025" y="8477991"/>
            <a:ext cx="7456794" cy="885770"/>
            <a:chOff x="0" y="0"/>
            <a:chExt cx="1963929" cy="23328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63929" cy="233289"/>
            </a:xfrm>
            <a:custGeom>
              <a:avLst/>
              <a:gdLst/>
              <a:ahLst/>
              <a:cxnLst/>
              <a:rect r="r" b="b" t="t" l="l"/>
              <a:pathLst>
                <a:path h="233289" w="1963929">
                  <a:moveTo>
                    <a:pt x="52950" y="0"/>
                  </a:moveTo>
                  <a:lnTo>
                    <a:pt x="1910979" y="0"/>
                  </a:lnTo>
                  <a:cubicBezTo>
                    <a:pt x="1925022" y="0"/>
                    <a:pt x="1938491" y="5579"/>
                    <a:pt x="1948421" y="15509"/>
                  </a:cubicBezTo>
                  <a:cubicBezTo>
                    <a:pt x="1958351" y="25439"/>
                    <a:pt x="1963929" y="38907"/>
                    <a:pt x="1963929" y="52950"/>
                  </a:cubicBezTo>
                  <a:lnTo>
                    <a:pt x="1963929" y="180339"/>
                  </a:lnTo>
                  <a:cubicBezTo>
                    <a:pt x="1963929" y="194382"/>
                    <a:pt x="1958351" y="207850"/>
                    <a:pt x="1948421" y="217781"/>
                  </a:cubicBezTo>
                  <a:cubicBezTo>
                    <a:pt x="1938491" y="227711"/>
                    <a:pt x="1925022" y="233289"/>
                    <a:pt x="1910979" y="233289"/>
                  </a:cubicBezTo>
                  <a:lnTo>
                    <a:pt x="52950" y="233289"/>
                  </a:lnTo>
                  <a:cubicBezTo>
                    <a:pt x="38907" y="233289"/>
                    <a:pt x="25439" y="227711"/>
                    <a:pt x="15509" y="217781"/>
                  </a:cubicBezTo>
                  <a:cubicBezTo>
                    <a:pt x="5579" y="207850"/>
                    <a:pt x="0" y="194382"/>
                    <a:pt x="0" y="180339"/>
                  </a:cubicBezTo>
                  <a:lnTo>
                    <a:pt x="0" y="52950"/>
                  </a:lnTo>
                  <a:cubicBezTo>
                    <a:pt x="0" y="38907"/>
                    <a:pt x="5579" y="25439"/>
                    <a:pt x="15509" y="15509"/>
                  </a:cubicBezTo>
                  <a:cubicBezTo>
                    <a:pt x="25439" y="5579"/>
                    <a:pt x="38907" y="0"/>
                    <a:pt x="529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1963929" cy="299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8700" y="1569930"/>
            <a:ext cx="16230600" cy="63804"/>
            <a:chOff x="0" y="0"/>
            <a:chExt cx="4052983" cy="1593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356351" y="4554892"/>
            <a:ext cx="195032" cy="195032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6169434" y="4554892"/>
            <a:ext cx="195032" cy="195032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C5FB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356351" y="5622009"/>
            <a:ext cx="195032" cy="195032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169434" y="5622009"/>
            <a:ext cx="195032" cy="195032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142269" y="4554892"/>
            <a:ext cx="195032" cy="195032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5955352" y="4554892"/>
            <a:ext cx="195032" cy="195032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C5FB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142269" y="5622009"/>
            <a:ext cx="195032" cy="195032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955352" y="5622009"/>
            <a:ext cx="195032" cy="195032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2450498" y="2119509"/>
            <a:ext cx="13387005" cy="114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99"/>
              </a:lnSpc>
              <a:spcBef>
                <a:spcPct val="0"/>
              </a:spcBef>
            </a:pPr>
            <a:r>
              <a:rPr lang="en-US" sz="9999" spc="-799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Platform Architecture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772242" y="1104900"/>
            <a:ext cx="4895164" cy="22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0"/>
              </a:lnSpc>
              <a:spcBef>
                <a:spcPct val="0"/>
              </a:spcBef>
            </a:pPr>
            <a:r>
              <a:rPr lang="en-US" sz="2012" spc="-16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Sentimatix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112343" y="1104900"/>
            <a:ext cx="4715299" cy="22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0"/>
              </a:lnSpc>
              <a:spcBef>
                <a:spcPct val="0"/>
              </a:spcBef>
            </a:pPr>
            <a:r>
              <a:rPr lang="en-US" sz="2012" spc="-161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Real-time Sentiment &amp; Financial News API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850921" y="4248548"/>
            <a:ext cx="1139957" cy="7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75"/>
              </a:lnSpc>
            </a:pPr>
            <a:r>
              <a:rPr lang="en-US" b="true" sz="4197" spc="-146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658723" y="4248548"/>
            <a:ext cx="1139957" cy="7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75"/>
              </a:lnSpc>
              <a:spcBef>
                <a:spcPct val="0"/>
              </a:spcBef>
            </a:pPr>
            <a:r>
              <a:rPr lang="en-US" b="true" sz="4197" spc="-146" strike="noStrike" u="none">
                <a:solidFill>
                  <a:srgbClr val="47C5F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06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831871" y="5315665"/>
            <a:ext cx="1139957" cy="7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75"/>
              </a:lnSpc>
              <a:spcBef>
                <a:spcPct val="0"/>
              </a:spcBef>
            </a:pPr>
            <a:r>
              <a:rPr lang="en-US" b="true" sz="4197" spc="-146" strike="noStrike" u="non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658723" y="5315665"/>
            <a:ext cx="1139957" cy="7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75"/>
              </a:lnSpc>
              <a:spcBef>
                <a:spcPct val="0"/>
              </a:spcBef>
            </a:pPr>
            <a:r>
              <a:rPr lang="en-US" b="true" sz="4197" spc="-146" strike="noStrike" u="non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07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990879" y="4398788"/>
            <a:ext cx="3691110" cy="3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9"/>
              </a:lnSpc>
            </a:pPr>
            <a:r>
              <a:rPr lang="en-US" sz="2012" spc="-7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Ingestion Layer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815462" y="4398788"/>
            <a:ext cx="4396940" cy="3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9"/>
              </a:lnSpc>
            </a:pPr>
            <a:r>
              <a:rPr lang="en-US" sz="2012" spc="-7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Premium Financial Portal Scrapers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990879" y="5465905"/>
            <a:ext cx="3691110" cy="3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9"/>
              </a:lnSpc>
            </a:pPr>
            <a:r>
              <a:rPr lang="en-US" sz="2012" spc="-7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Telegram Feed Integration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815462" y="5465905"/>
            <a:ext cx="5354746" cy="3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9"/>
              </a:lnSpc>
            </a:pPr>
            <a:r>
              <a:rPr lang="en-US" sz="2012" spc="-7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AI Engine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831871" y="6382782"/>
            <a:ext cx="1139957" cy="7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75"/>
              </a:lnSpc>
              <a:spcBef>
                <a:spcPct val="0"/>
              </a:spcBef>
            </a:pPr>
            <a:r>
              <a:rPr lang="en-US" b="true" sz="4197" spc="-146" strike="noStrike" u="none">
                <a:solidFill>
                  <a:srgbClr val="47C5F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658723" y="6382782"/>
            <a:ext cx="1139957" cy="7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75"/>
              </a:lnSpc>
              <a:spcBef>
                <a:spcPct val="0"/>
              </a:spcBef>
            </a:pPr>
            <a:r>
              <a:rPr lang="en-US" b="true" sz="4197" spc="-146" strike="noStrike" u="non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08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990879" y="6533022"/>
            <a:ext cx="3691110" cy="3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9"/>
              </a:lnSpc>
            </a:pPr>
            <a:r>
              <a:rPr lang="en-US" sz="2012" spc="-7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Context-aware Sentiment Extraction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815462" y="6533022"/>
            <a:ext cx="3691110" cy="3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9"/>
              </a:lnSpc>
            </a:pPr>
            <a:r>
              <a:rPr lang="en-US" sz="2012" spc="-7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Deduplication System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831871" y="7449899"/>
            <a:ext cx="1139957" cy="7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75"/>
              </a:lnSpc>
              <a:spcBef>
                <a:spcPct val="0"/>
              </a:spcBef>
            </a:pPr>
            <a:r>
              <a:rPr lang="en-US" b="true" sz="4197" spc="-146" strike="noStrike" u="non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04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658723" y="7449899"/>
            <a:ext cx="1139957" cy="7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75"/>
              </a:lnSpc>
              <a:spcBef>
                <a:spcPct val="0"/>
              </a:spcBef>
            </a:pPr>
            <a:r>
              <a:rPr lang="en-US" b="true" sz="4197" spc="-146" strike="noStrike" u="none">
                <a:solidFill>
                  <a:srgbClr val="0082B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09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990879" y="7600139"/>
            <a:ext cx="3691110" cy="3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9"/>
              </a:lnSpc>
            </a:pPr>
            <a:r>
              <a:rPr lang="en-US" sz="2012" spc="-7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Postgres Hot Tier Storage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815462" y="7600139"/>
            <a:ext cx="3691110" cy="3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9"/>
              </a:lnSpc>
            </a:pPr>
            <a:r>
              <a:rPr lang="en-US" sz="2012" spc="-72">
                <a:solidFill>
                  <a:srgbClr val="0082B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DuckDB / Parquet Cold Tier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831871" y="8517016"/>
            <a:ext cx="1139957" cy="7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75"/>
              </a:lnSpc>
              <a:spcBef>
                <a:spcPct val="0"/>
              </a:spcBef>
            </a:pPr>
            <a:r>
              <a:rPr lang="en-US" b="true" sz="4197" spc="-146" strike="noStrike" u="non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05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675504" y="8517016"/>
            <a:ext cx="1139957" cy="7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75"/>
              </a:lnSpc>
              <a:spcBef>
                <a:spcPct val="0"/>
              </a:spcBef>
            </a:pPr>
            <a:r>
              <a:rPr lang="en-US" b="true" sz="4197" spc="-146" strike="noStrike" u="non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10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2990879" y="8667256"/>
            <a:ext cx="3691110" cy="3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9"/>
              </a:lnSpc>
            </a:pPr>
            <a:r>
              <a:rPr lang="en-US" sz="2012" spc="-7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High-performance REST API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0815462" y="8667256"/>
            <a:ext cx="3691110" cy="3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9"/>
              </a:lnSpc>
            </a:pPr>
            <a:r>
              <a:rPr lang="en-US" sz="2012" spc="-7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Real-time Delivery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8356351" y="6686284"/>
            <a:ext cx="195032" cy="195032"/>
            <a:chOff x="0" y="0"/>
            <a:chExt cx="812800" cy="8128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C5FB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6169434" y="6686284"/>
            <a:ext cx="195032" cy="195032"/>
            <a:chOff x="0" y="0"/>
            <a:chExt cx="812800" cy="812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8142269" y="6686284"/>
            <a:ext cx="195032" cy="195032"/>
            <a:chOff x="0" y="0"/>
            <a:chExt cx="812800" cy="8128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C5FB"/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5955352" y="6686284"/>
            <a:ext cx="195032" cy="195032"/>
            <a:chOff x="0" y="0"/>
            <a:chExt cx="812800" cy="8128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8356351" y="7750560"/>
            <a:ext cx="195032" cy="195032"/>
            <a:chOff x="0" y="0"/>
            <a:chExt cx="812800" cy="8128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0" id="10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6169434" y="7750560"/>
            <a:ext cx="195032" cy="195032"/>
            <a:chOff x="0" y="0"/>
            <a:chExt cx="812800" cy="8128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2B2"/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8142269" y="7750560"/>
            <a:ext cx="195032" cy="195032"/>
            <a:chOff x="0" y="0"/>
            <a:chExt cx="812800" cy="8128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6" id="10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5955352" y="7750560"/>
            <a:ext cx="195032" cy="195032"/>
            <a:chOff x="0" y="0"/>
            <a:chExt cx="812800" cy="8128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2B2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8356351" y="8814836"/>
            <a:ext cx="195032" cy="195032"/>
            <a:chOff x="0" y="0"/>
            <a:chExt cx="812800" cy="8128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2" id="1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6169434" y="8814836"/>
            <a:ext cx="195032" cy="195032"/>
            <a:chOff x="0" y="0"/>
            <a:chExt cx="812800" cy="8128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5" id="1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8142269" y="8814836"/>
            <a:ext cx="195032" cy="195032"/>
            <a:chOff x="0" y="0"/>
            <a:chExt cx="812800" cy="8128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8" id="1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5955352" y="8814836"/>
            <a:ext cx="195032" cy="195032"/>
            <a:chOff x="0" y="0"/>
            <a:chExt cx="812800" cy="8128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1" id="12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813029" y="-1187455"/>
            <a:ext cx="11129747" cy="6677848"/>
          </a:xfrm>
          <a:custGeom>
            <a:avLst/>
            <a:gdLst/>
            <a:ahLst/>
            <a:cxnLst/>
            <a:rect r="r" b="b" t="t" l="l"/>
            <a:pathLst>
              <a:path h="6677848" w="11129747">
                <a:moveTo>
                  <a:pt x="0" y="0"/>
                </a:moveTo>
                <a:lnTo>
                  <a:pt x="11129747" y="0"/>
                </a:lnTo>
                <a:lnTo>
                  <a:pt x="11129747" y="6677848"/>
                </a:lnTo>
                <a:lnTo>
                  <a:pt x="0" y="66778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36368" y="4738894"/>
            <a:ext cx="9199756" cy="7578299"/>
          </a:xfrm>
          <a:custGeom>
            <a:avLst/>
            <a:gdLst/>
            <a:ahLst/>
            <a:cxnLst/>
            <a:rect r="r" b="b" t="t" l="l"/>
            <a:pathLst>
              <a:path h="7578299" w="9199756">
                <a:moveTo>
                  <a:pt x="0" y="0"/>
                </a:moveTo>
                <a:lnTo>
                  <a:pt x="9199756" y="0"/>
                </a:lnTo>
                <a:lnTo>
                  <a:pt x="9199756" y="7578299"/>
                </a:lnTo>
                <a:lnTo>
                  <a:pt x="0" y="75782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7554" y="1034898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6" y="0"/>
                </a:lnTo>
                <a:lnTo>
                  <a:pt x="308536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569930"/>
            <a:ext cx="16230600" cy="63804"/>
            <a:chOff x="0" y="0"/>
            <a:chExt cx="4052983" cy="15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38588" y="2018423"/>
            <a:ext cx="7612070" cy="3686536"/>
            <a:chOff x="0" y="0"/>
            <a:chExt cx="2004825" cy="9709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04825" cy="970940"/>
            </a:xfrm>
            <a:custGeom>
              <a:avLst/>
              <a:gdLst/>
              <a:ahLst/>
              <a:cxnLst/>
              <a:rect r="r" b="b" t="t" l="l"/>
              <a:pathLst>
                <a:path h="970940" w="2004825">
                  <a:moveTo>
                    <a:pt x="51870" y="0"/>
                  </a:moveTo>
                  <a:lnTo>
                    <a:pt x="1952955" y="0"/>
                  </a:lnTo>
                  <a:cubicBezTo>
                    <a:pt x="1966712" y="0"/>
                    <a:pt x="1979905" y="5465"/>
                    <a:pt x="1989633" y="15192"/>
                  </a:cubicBezTo>
                  <a:cubicBezTo>
                    <a:pt x="1999360" y="24920"/>
                    <a:pt x="2004825" y="38113"/>
                    <a:pt x="2004825" y="51870"/>
                  </a:cubicBezTo>
                  <a:lnTo>
                    <a:pt x="2004825" y="919070"/>
                  </a:lnTo>
                  <a:cubicBezTo>
                    <a:pt x="2004825" y="932826"/>
                    <a:pt x="1999360" y="946020"/>
                    <a:pt x="1989633" y="955747"/>
                  </a:cubicBezTo>
                  <a:cubicBezTo>
                    <a:pt x="1979905" y="965475"/>
                    <a:pt x="1966712" y="970940"/>
                    <a:pt x="1952955" y="970940"/>
                  </a:cubicBezTo>
                  <a:lnTo>
                    <a:pt x="51870" y="970940"/>
                  </a:lnTo>
                  <a:cubicBezTo>
                    <a:pt x="38113" y="970940"/>
                    <a:pt x="24920" y="965475"/>
                    <a:pt x="15192" y="955747"/>
                  </a:cubicBezTo>
                  <a:cubicBezTo>
                    <a:pt x="5465" y="946020"/>
                    <a:pt x="0" y="932826"/>
                    <a:pt x="0" y="919070"/>
                  </a:cubicBezTo>
                  <a:lnTo>
                    <a:pt x="0" y="51870"/>
                  </a:lnTo>
                  <a:cubicBezTo>
                    <a:pt x="0" y="38113"/>
                    <a:pt x="5465" y="24920"/>
                    <a:pt x="15192" y="15192"/>
                  </a:cubicBezTo>
                  <a:cubicBezTo>
                    <a:pt x="24920" y="5465"/>
                    <a:pt x="38113" y="0"/>
                    <a:pt x="518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004825" cy="1037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37342" y="2018423"/>
            <a:ext cx="7612070" cy="3686536"/>
            <a:chOff x="0" y="0"/>
            <a:chExt cx="2004825" cy="9709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04825" cy="970940"/>
            </a:xfrm>
            <a:custGeom>
              <a:avLst/>
              <a:gdLst/>
              <a:ahLst/>
              <a:cxnLst/>
              <a:rect r="r" b="b" t="t" l="l"/>
              <a:pathLst>
                <a:path h="970940" w="2004825">
                  <a:moveTo>
                    <a:pt x="51870" y="0"/>
                  </a:moveTo>
                  <a:lnTo>
                    <a:pt x="1952955" y="0"/>
                  </a:lnTo>
                  <a:cubicBezTo>
                    <a:pt x="1966712" y="0"/>
                    <a:pt x="1979905" y="5465"/>
                    <a:pt x="1989633" y="15192"/>
                  </a:cubicBezTo>
                  <a:cubicBezTo>
                    <a:pt x="1999360" y="24920"/>
                    <a:pt x="2004825" y="38113"/>
                    <a:pt x="2004825" y="51870"/>
                  </a:cubicBezTo>
                  <a:lnTo>
                    <a:pt x="2004825" y="919070"/>
                  </a:lnTo>
                  <a:cubicBezTo>
                    <a:pt x="2004825" y="932826"/>
                    <a:pt x="1999360" y="946020"/>
                    <a:pt x="1989633" y="955747"/>
                  </a:cubicBezTo>
                  <a:cubicBezTo>
                    <a:pt x="1979905" y="965475"/>
                    <a:pt x="1966712" y="970940"/>
                    <a:pt x="1952955" y="970940"/>
                  </a:cubicBezTo>
                  <a:lnTo>
                    <a:pt x="51870" y="970940"/>
                  </a:lnTo>
                  <a:cubicBezTo>
                    <a:pt x="38113" y="970940"/>
                    <a:pt x="24920" y="965475"/>
                    <a:pt x="15192" y="955747"/>
                  </a:cubicBezTo>
                  <a:cubicBezTo>
                    <a:pt x="5465" y="946020"/>
                    <a:pt x="0" y="932826"/>
                    <a:pt x="0" y="919070"/>
                  </a:cubicBezTo>
                  <a:lnTo>
                    <a:pt x="0" y="51870"/>
                  </a:lnTo>
                  <a:cubicBezTo>
                    <a:pt x="0" y="38113"/>
                    <a:pt x="5465" y="24920"/>
                    <a:pt x="15192" y="15192"/>
                  </a:cubicBezTo>
                  <a:cubicBezTo>
                    <a:pt x="24920" y="5465"/>
                    <a:pt x="38113" y="0"/>
                    <a:pt x="518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004825" cy="1037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788873" y="2195578"/>
            <a:ext cx="855445" cy="85544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2B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800062" y="2195578"/>
            <a:ext cx="855445" cy="85544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2B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302801" y="2328915"/>
            <a:ext cx="968791" cy="895421"/>
          </a:xfrm>
          <a:custGeom>
            <a:avLst/>
            <a:gdLst/>
            <a:ahLst/>
            <a:cxnLst/>
            <a:rect r="r" b="b" t="t" l="l"/>
            <a:pathLst>
              <a:path h="895421" w="968791">
                <a:moveTo>
                  <a:pt x="0" y="0"/>
                </a:moveTo>
                <a:lnTo>
                  <a:pt x="968791" y="0"/>
                </a:lnTo>
                <a:lnTo>
                  <a:pt x="968791" y="895421"/>
                </a:lnTo>
                <a:lnTo>
                  <a:pt x="0" y="8954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324362" y="2319708"/>
            <a:ext cx="916912" cy="942491"/>
          </a:xfrm>
          <a:custGeom>
            <a:avLst/>
            <a:gdLst/>
            <a:ahLst/>
            <a:cxnLst/>
            <a:rect r="r" b="b" t="t" l="l"/>
            <a:pathLst>
              <a:path h="942491" w="916912">
                <a:moveTo>
                  <a:pt x="0" y="0"/>
                </a:moveTo>
                <a:lnTo>
                  <a:pt x="916912" y="0"/>
                </a:lnTo>
                <a:lnTo>
                  <a:pt x="916912" y="942491"/>
                </a:lnTo>
                <a:lnTo>
                  <a:pt x="0" y="9424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772242" y="1123950"/>
            <a:ext cx="4895164" cy="29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8"/>
              </a:lnSpc>
              <a:spcBef>
                <a:spcPct val="0"/>
              </a:spcBef>
            </a:pPr>
            <a:r>
              <a:rPr lang="en-US" sz="2598" spc="-20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Sentimatix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12343" y="1123950"/>
            <a:ext cx="4715299" cy="29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8"/>
              </a:lnSpc>
              <a:spcBef>
                <a:spcPct val="0"/>
              </a:spcBef>
            </a:pPr>
            <a:r>
              <a:rPr lang="en-US" sz="2598" spc="-207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Pitch Deck Business Presentation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0888" y="6461124"/>
            <a:ext cx="11239246" cy="215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99"/>
              </a:lnSpc>
              <a:spcBef>
                <a:spcPct val="0"/>
              </a:spcBef>
            </a:pPr>
            <a:r>
              <a:rPr lang="en-US" sz="9999" spc="-799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Data Sourcing &amp; Coverage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50418" y="6650253"/>
            <a:ext cx="4013308" cy="167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8"/>
              </a:lnSpc>
            </a:pPr>
            <a:r>
              <a:rPr lang="en-US" sz="1998" spc="-10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Real-time ingestion ensures investors receive up-to-the-minute signals, while deep historical archives enable rigorous backtesting and alpha research across NSE-listed equities.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03275" y="3890582"/>
            <a:ext cx="6767822" cy="143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6"/>
              </a:lnSpc>
            </a:pPr>
            <a:r>
              <a:rPr lang="en-US" sz="1898" i="true" spc="-68">
                <a:solidFill>
                  <a:srgbClr val="FFFFFF"/>
                </a:solidFill>
                <a:latin typeface="HK Grotesk Light Italics"/>
                <a:ea typeface="HK Grotesk Light Italics"/>
                <a:cs typeface="HK Grotesk Light Italics"/>
                <a:sym typeface="HK Grotesk Light Italics"/>
              </a:rPr>
              <a:t>Hyper-focused on the National Stock Exchange of India. Monitors premium financial portals, Telegram channels, and wire services for NSE-listed equities. Real-time updates plus deep historical archives for backtesting quantitative strategies.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02029" y="3890582"/>
            <a:ext cx="6767822" cy="143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6"/>
              </a:lnSpc>
            </a:pPr>
            <a:r>
              <a:rPr lang="en-US" sz="1898" i="true" spc="-68">
                <a:solidFill>
                  <a:srgbClr val="FFFFFF"/>
                </a:solidFill>
                <a:latin typeface="HK Grotesk Light Italics"/>
                <a:ea typeface="HK Grotesk Light Italics"/>
                <a:cs typeface="HK Grotesk Light Italics"/>
                <a:sym typeface="HK Grotesk Light Italics"/>
              </a:rPr>
              <a:t>All entities are normalized to Yahoo Finance .NS ticker format for seamless integration. Consistent entity linking ensures every news item maps accurately to its corresponding NSE-listed stock or sector index.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03275" y="3111790"/>
            <a:ext cx="3691110" cy="5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5"/>
              </a:lnSpc>
            </a:pPr>
            <a:r>
              <a:rPr lang="en-US" b="true" sz="279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NSE Coverage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02029" y="3111790"/>
            <a:ext cx="3691110" cy="5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5"/>
              </a:lnSpc>
            </a:pPr>
            <a:r>
              <a:rPr lang="en-US" b="true" sz="279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Ticker Mapping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017357" y="2428269"/>
            <a:ext cx="195032" cy="195032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016111" y="2428269"/>
            <a:ext cx="195032" cy="195032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803275" y="2428269"/>
            <a:ext cx="195032" cy="195032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802029" y="2428269"/>
            <a:ext cx="195032" cy="195032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7554" y="1034898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6" y="0"/>
                </a:lnTo>
                <a:lnTo>
                  <a:pt x="308536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569930"/>
            <a:ext cx="16230600" cy="63804"/>
            <a:chOff x="0" y="0"/>
            <a:chExt cx="4052983" cy="15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72242" y="1114425"/>
            <a:ext cx="4895164" cy="27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7"/>
              </a:lnSpc>
              <a:spcBef>
                <a:spcPct val="0"/>
              </a:spcBef>
            </a:pPr>
            <a:r>
              <a:rPr lang="en-US" sz="2421" spc="-19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Sentimatix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12343" y="1114425"/>
            <a:ext cx="4715299" cy="27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7"/>
              </a:lnSpc>
              <a:spcBef>
                <a:spcPct val="0"/>
              </a:spcBef>
            </a:pPr>
            <a:r>
              <a:rPr lang="en-US" sz="2421" spc="-19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Real-time Sentiment API — Indian Markets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12629" y="2233512"/>
            <a:ext cx="6846671" cy="7024788"/>
            <a:chOff x="0" y="0"/>
            <a:chExt cx="1803239" cy="18501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03239" cy="1850150"/>
            </a:xfrm>
            <a:custGeom>
              <a:avLst/>
              <a:gdLst/>
              <a:ahLst/>
              <a:cxnLst/>
              <a:rect r="r" b="b" t="t" l="l"/>
              <a:pathLst>
                <a:path h="1850150" w="1803239">
                  <a:moveTo>
                    <a:pt x="57669" y="0"/>
                  </a:moveTo>
                  <a:lnTo>
                    <a:pt x="1745570" y="0"/>
                  </a:lnTo>
                  <a:cubicBezTo>
                    <a:pt x="1777419" y="0"/>
                    <a:pt x="1803239" y="25819"/>
                    <a:pt x="1803239" y="57669"/>
                  </a:cubicBezTo>
                  <a:lnTo>
                    <a:pt x="1803239" y="1792481"/>
                  </a:lnTo>
                  <a:cubicBezTo>
                    <a:pt x="1803239" y="1824331"/>
                    <a:pt x="1777419" y="1850150"/>
                    <a:pt x="1745570" y="1850150"/>
                  </a:cubicBezTo>
                  <a:lnTo>
                    <a:pt x="57669" y="1850150"/>
                  </a:lnTo>
                  <a:cubicBezTo>
                    <a:pt x="25819" y="1850150"/>
                    <a:pt x="0" y="1824331"/>
                    <a:pt x="0" y="1792481"/>
                  </a:cubicBezTo>
                  <a:lnTo>
                    <a:pt x="0" y="57669"/>
                  </a:lnTo>
                  <a:cubicBezTo>
                    <a:pt x="0" y="25819"/>
                    <a:pt x="25819" y="0"/>
                    <a:pt x="576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803239" cy="1916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3297237"/>
            <a:ext cx="11099246" cy="215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99"/>
              </a:lnSpc>
              <a:spcBef>
                <a:spcPct val="0"/>
              </a:spcBef>
            </a:pPr>
            <a:r>
              <a:rPr lang="en-US" sz="9999" spc="-799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The Sentiment Engine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799416"/>
            <a:ext cx="7291346" cy="1219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8"/>
              </a:lnSpc>
            </a:pPr>
            <a:r>
              <a:rPr lang="en-US" sz="1862" spc="-10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Our AI engine goes far beyond simple positive/negative classification. Every signal is scored on a continuous scale, tagged by category, and validated with a confidence metric — delivering institutional-grade sentiment intelligence for Indian equities.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12792" y="3571610"/>
            <a:ext cx="6071251" cy="132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1"/>
              </a:lnSpc>
            </a:pPr>
            <a:r>
              <a:rPr lang="en-US" sz="1769" i="true" spc="-63">
                <a:solidFill>
                  <a:srgbClr val="FFFFFF"/>
                </a:solidFill>
                <a:latin typeface="HK Grotesk Light Italics"/>
                <a:ea typeface="HK Grotesk Light Italics"/>
                <a:cs typeface="HK Grotesk Light Italics"/>
                <a:sym typeface="HK Grotesk Light Italics"/>
              </a:rPr>
              <a:t>Sentiment scored on a continuous scale from -1.0 (strongly bearish) to +1.0 (strongly bullish). Each signal includes a confidence score and categorical tags (e.g., Earnings, Regulatory, M&amp;A) for granular filtering and alpha factor construction.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12792" y="6770841"/>
            <a:ext cx="6071251" cy="132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1"/>
              </a:lnSpc>
            </a:pPr>
            <a:r>
              <a:rPr lang="en-US" sz="1769" i="true" spc="-63">
                <a:solidFill>
                  <a:srgbClr val="FFFFFF"/>
                </a:solidFill>
                <a:latin typeface="HK Grotesk Light Italics"/>
                <a:ea typeface="HK Grotesk Light Italics"/>
                <a:cs typeface="HK Grotesk Light Italics"/>
                <a:sym typeface="HK Grotesk Light Italics"/>
              </a:rPr>
              <a:t>Market-sensitive events are automatically flagged with Volatility Tags. Earnings releases, merger announcements, and regulatory actions trigger high-priority signals — enabling risk models and quant strategies to react in real time before price moves.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26783" y="2843150"/>
            <a:ext cx="3691110" cy="5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5"/>
              </a:lnSpc>
            </a:pPr>
            <a:r>
              <a:rPr lang="en-US" b="true" sz="279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Precision Scoring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26783" y="6042381"/>
            <a:ext cx="3691110" cy="5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5"/>
              </a:lnSpc>
            </a:pPr>
            <a:r>
              <a:rPr lang="en-US" b="true" sz="279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Volatility Tagging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7554" y="1034898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6" y="0"/>
                </a:lnTo>
                <a:lnTo>
                  <a:pt x="308536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569930"/>
            <a:ext cx="16230600" cy="63804"/>
            <a:chOff x="0" y="0"/>
            <a:chExt cx="4052983" cy="15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72242" y="1114425"/>
            <a:ext cx="4895164" cy="27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7"/>
              </a:lnSpc>
              <a:spcBef>
                <a:spcPct val="0"/>
              </a:spcBef>
            </a:pPr>
            <a:r>
              <a:rPr lang="en-US" sz="2421" spc="-19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Sentimatix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12343" y="1114425"/>
            <a:ext cx="4715299" cy="27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7"/>
              </a:lnSpc>
              <a:spcBef>
                <a:spcPct val="0"/>
              </a:spcBef>
            </a:pPr>
            <a:r>
              <a:rPr lang="en-US" sz="2421" spc="-193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Pitch Deck  |  API Capabilities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12629" y="2233512"/>
            <a:ext cx="6846671" cy="7024788"/>
            <a:chOff x="0" y="0"/>
            <a:chExt cx="1803239" cy="18501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03239" cy="1850150"/>
            </a:xfrm>
            <a:custGeom>
              <a:avLst/>
              <a:gdLst/>
              <a:ahLst/>
              <a:cxnLst/>
              <a:rect r="r" b="b" t="t" l="l"/>
              <a:pathLst>
                <a:path h="1850150" w="1803239">
                  <a:moveTo>
                    <a:pt x="57669" y="0"/>
                  </a:moveTo>
                  <a:lnTo>
                    <a:pt x="1745570" y="0"/>
                  </a:lnTo>
                  <a:cubicBezTo>
                    <a:pt x="1777419" y="0"/>
                    <a:pt x="1803239" y="25819"/>
                    <a:pt x="1803239" y="57669"/>
                  </a:cubicBezTo>
                  <a:lnTo>
                    <a:pt x="1803239" y="1792481"/>
                  </a:lnTo>
                  <a:cubicBezTo>
                    <a:pt x="1803239" y="1824331"/>
                    <a:pt x="1777419" y="1850150"/>
                    <a:pt x="1745570" y="1850150"/>
                  </a:cubicBezTo>
                  <a:lnTo>
                    <a:pt x="57669" y="1850150"/>
                  </a:lnTo>
                  <a:cubicBezTo>
                    <a:pt x="25819" y="1850150"/>
                    <a:pt x="0" y="1824331"/>
                    <a:pt x="0" y="1792481"/>
                  </a:cubicBezTo>
                  <a:lnTo>
                    <a:pt x="0" y="57669"/>
                  </a:lnTo>
                  <a:cubicBezTo>
                    <a:pt x="0" y="25819"/>
                    <a:pt x="25819" y="0"/>
                    <a:pt x="576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803239" cy="1916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3297237"/>
            <a:ext cx="11099246" cy="114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99"/>
              </a:lnSpc>
              <a:spcBef>
                <a:spcPct val="0"/>
              </a:spcBef>
            </a:pPr>
            <a:r>
              <a:rPr lang="en-US" sz="9999" spc="-799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API Capabilities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799416"/>
            <a:ext cx="7291346" cy="91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8"/>
              </a:lnSpc>
            </a:pPr>
            <a:r>
              <a:rPr lang="en-US" sz="1862" spc="-10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 developer-first, high-performance REST API delivering real-time Indian financial sentiment data. Designed for seamless integration into quant workflows, trading platforms, and risk systems with enterprise-grade reliability and analytics.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12792" y="3571610"/>
            <a:ext cx="6071251" cy="165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1"/>
              </a:lnSpc>
            </a:pPr>
            <a:r>
              <a:rPr lang="en-US" sz="1769" i="true" spc="-63">
                <a:solidFill>
                  <a:srgbClr val="FFFFFF"/>
                </a:solidFill>
                <a:latin typeface="HK Grotesk Light Italics"/>
                <a:ea typeface="HK Grotesk Light Italics"/>
                <a:cs typeface="HK Grotesk Light Italics"/>
                <a:sym typeface="HK Grotesk Light Italics"/>
              </a:rPr>
              <a:t>RESTful JSON-based API with clean, well-documented endpoints for easy integration. Real-time news streams delivering sentiment scores as events occur. Aggregated ticker-level and sector-level sentiment for portfolio-wide analysis. Supports historical data queries for backtesting and model training.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12792" y="6770841"/>
            <a:ext cx="6071251" cy="165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1"/>
              </a:lnSpc>
            </a:pPr>
            <a:r>
              <a:rPr lang="en-US" sz="1769" i="true" spc="-63">
                <a:solidFill>
                  <a:srgbClr val="FFFFFF"/>
                </a:solidFill>
                <a:latin typeface="HK Grotesk Light Italics"/>
                <a:ea typeface="HK Grotesk Light Italics"/>
                <a:cs typeface="HK Grotesk Light Italics"/>
                <a:sym typeface="HK Grotesk Light Italics"/>
              </a:rPr>
              <a:t>Enterprise-grade rate limiting with tiered access controls for institutional clients. Mixpanel-integrated usage analytics for monitoring API consumption and performance. Webhook support for push-based real-time event delivery. SLA-backed uptime with low-latency response times optimized for live trading environments.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26783" y="2843150"/>
            <a:ext cx="3691110" cy="5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5"/>
              </a:lnSpc>
            </a:pPr>
            <a:r>
              <a:rPr lang="en-US" b="true" sz="279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Core API Features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26783" y="6042381"/>
            <a:ext cx="3691110" cy="5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5"/>
              </a:lnSpc>
            </a:pPr>
            <a:r>
              <a:rPr lang="en-US" b="true" sz="279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Enterprise &amp; Analytics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7554" y="1034898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6" y="0"/>
                </a:lnTo>
                <a:lnTo>
                  <a:pt x="308536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569930"/>
            <a:ext cx="16230600" cy="63804"/>
            <a:chOff x="0" y="0"/>
            <a:chExt cx="4052983" cy="15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72242" y="1123950"/>
            <a:ext cx="4895164" cy="29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8"/>
              </a:lnSpc>
              <a:spcBef>
                <a:spcPct val="0"/>
              </a:spcBef>
            </a:pPr>
            <a:r>
              <a:rPr lang="en-US" sz="2598" spc="-20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Sentimatix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12343" y="1123950"/>
            <a:ext cx="4715299" cy="29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8"/>
              </a:lnSpc>
              <a:spcBef>
                <a:spcPct val="0"/>
              </a:spcBef>
            </a:pPr>
            <a:r>
              <a:rPr lang="en-US" sz="2598" spc="-207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Use Cases &amp; Target Customers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2092849"/>
            <a:ext cx="16230600" cy="3944481"/>
            <a:chOff x="0" y="0"/>
            <a:chExt cx="4274726" cy="10388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74726" cy="1038876"/>
            </a:xfrm>
            <a:custGeom>
              <a:avLst/>
              <a:gdLst/>
              <a:ahLst/>
              <a:cxnLst/>
              <a:rect r="r" b="b" t="t" l="l"/>
              <a:pathLst>
                <a:path h="1038876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014549"/>
                  </a:lnTo>
                  <a:cubicBezTo>
                    <a:pt x="4274726" y="1027984"/>
                    <a:pt x="4263834" y="1038876"/>
                    <a:pt x="4250399" y="1038876"/>
                  </a:cubicBezTo>
                  <a:lnTo>
                    <a:pt x="24327" y="1038876"/>
                  </a:lnTo>
                  <a:cubicBezTo>
                    <a:pt x="10891" y="1038876"/>
                    <a:pt x="0" y="1027984"/>
                    <a:pt x="0" y="101454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4274726" cy="1105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07554" y="2766514"/>
            <a:ext cx="10946804" cy="114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99"/>
              </a:lnSpc>
              <a:spcBef>
                <a:spcPct val="0"/>
              </a:spcBef>
            </a:pPr>
            <a:r>
              <a:rPr lang="en-US" sz="9999" spc="-799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Quant Funds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7554" y="6742180"/>
            <a:ext cx="13387005" cy="215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99"/>
              </a:lnSpc>
              <a:spcBef>
                <a:spcPct val="0"/>
              </a:spcBef>
            </a:pPr>
            <a:r>
              <a:rPr lang="en-US" sz="9999" spc="-799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Retail </a:t>
            </a:r>
          </a:p>
          <a:p>
            <a:pPr algn="l" marL="0" indent="0" lvl="0">
              <a:lnSpc>
                <a:spcPts val="7999"/>
              </a:lnSpc>
              <a:spcBef>
                <a:spcPct val="0"/>
              </a:spcBef>
            </a:pPr>
            <a:r>
              <a:rPr lang="en-US" sz="9999" spc="-799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Brokerages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17738" y="2834168"/>
            <a:ext cx="6772563" cy="1007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8"/>
              </a:lnSpc>
            </a:pPr>
            <a:r>
              <a:rPr lang="en-US" sz="1998" spc="-10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Leverage Sentimatix sentiment scores as a quantifiable alpha factor in systematic trading algorithms. Integrate real-time and historical sentiment signals directly into quant models for NSE-listed equities.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17738" y="6809835"/>
            <a:ext cx="6772563" cy="1007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8"/>
              </a:lnSpc>
            </a:pPr>
            <a:r>
              <a:rPr lang="en-US" sz="1998" spc="-10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Embed 'Live Stock Sentiment' widgets into trading dashboards for platforms like Zerodha and Upstox. Give retail investors real-time sentiment context alongside price data.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17738" y="4136304"/>
            <a:ext cx="6772563" cy="1007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8"/>
              </a:lnSpc>
            </a:pPr>
            <a:r>
              <a:rPr lang="en-US" sz="1998" spc="-10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Sentiment signals enable edge in momentum strategies, event-driven trades, and portfolio rebalancing — powered by structured, machine-readable news data.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17738" y="8111970"/>
            <a:ext cx="6772563" cy="1007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8"/>
              </a:lnSpc>
            </a:pPr>
            <a:r>
              <a:rPr lang="en-US" sz="1998" spc="-10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Risk Management: Deploy early warning alerts for negative PR, earnings shocks, M&amp;A activity, and market-sensitive events — enabling proactive risk mitigation for institutional portfolios.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7554" y="1034898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6" y="0"/>
                </a:lnTo>
                <a:lnTo>
                  <a:pt x="308536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569930"/>
            <a:ext cx="16230600" cy="63804"/>
            <a:chOff x="0" y="0"/>
            <a:chExt cx="4052983" cy="15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38588" y="2018423"/>
            <a:ext cx="7612070" cy="3686536"/>
            <a:chOff x="0" y="0"/>
            <a:chExt cx="2004825" cy="9709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04825" cy="970940"/>
            </a:xfrm>
            <a:custGeom>
              <a:avLst/>
              <a:gdLst/>
              <a:ahLst/>
              <a:cxnLst/>
              <a:rect r="r" b="b" t="t" l="l"/>
              <a:pathLst>
                <a:path h="970940" w="2004825">
                  <a:moveTo>
                    <a:pt x="51870" y="0"/>
                  </a:moveTo>
                  <a:lnTo>
                    <a:pt x="1952955" y="0"/>
                  </a:lnTo>
                  <a:cubicBezTo>
                    <a:pt x="1966712" y="0"/>
                    <a:pt x="1979905" y="5465"/>
                    <a:pt x="1989633" y="15192"/>
                  </a:cubicBezTo>
                  <a:cubicBezTo>
                    <a:pt x="1999360" y="24920"/>
                    <a:pt x="2004825" y="38113"/>
                    <a:pt x="2004825" y="51870"/>
                  </a:cubicBezTo>
                  <a:lnTo>
                    <a:pt x="2004825" y="919070"/>
                  </a:lnTo>
                  <a:cubicBezTo>
                    <a:pt x="2004825" y="932826"/>
                    <a:pt x="1999360" y="946020"/>
                    <a:pt x="1989633" y="955747"/>
                  </a:cubicBezTo>
                  <a:cubicBezTo>
                    <a:pt x="1979905" y="965475"/>
                    <a:pt x="1966712" y="970940"/>
                    <a:pt x="1952955" y="970940"/>
                  </a:cubicBezTo>
                  <a:lnTo>
                    <a:pt x="51870" y="970940"/>
                  </a:lnTo>
                  <a:cubicBezTo>
                    <a:pt x="38113" y="970940"/>
                    <a:pt x="24920" y="965475"/>
                    <a:pt x="15192" y="955747"/>
                  </a:cubicBezTo>
                  <a:cubicBezTo>
                    <a:pt x="5465" y="946020"/>
                    <a:pt x="0" y="932826"/>
                    <a:pt x="0" y="919070"/>
                  </a:cubicBezTo>
                  <a:lnTo>
                    <a:pt x="0" y="51870"/>
                  </a:lnTo>
                  <a:cubicBezTo>
                    <a:pt x="0" y="38113"/>
                    <a:pt x="5465" y="24920"/>
                    <a:pt x="15192" y="15192"/>
                  </a:cubicBezTo>
                  <a:cubicBezTo>
                    <a:pt x="24920" y="5465"/>
                    <a:pt x="38113" y="0"/>
                    <a:pt x="518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004825" cy="1037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37342" y="2018423"/>
            <a:ext cx="7612070" cy="3686536"/>
            <a:chOff x="0" y="0"/>
            <a:chExt cx="2004825" cy="9709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04825" cy="970940"/>
            </a:xfrm>
            <a:custGeom>
              <a:avLst/>
              <a:gdLst/>
              <a:ahLst/>
              <a:cxnLst/>
              <a:rect r="r" b="b" t="t" l="l"/>
              <a:pathLst>
                <a:path h="970940" w="2004825">
                  <a:moveTo>
                    <a:pt x="51870" y="0"/>
                  </a:moveTo>
                  <a:lnTo>
                    <a:pt x="1952955" y="0"/>
                  </a:lnTo>
                  <a:cubicBezTo>
                    <a:pt x="1966712" y="0"/>
                    <a:pt x="1979905" y="5465"/>
                    <a:pt x="1989633" y="15192"/>
                  </a:cubicBezTo>
                  <a:cubicBezTo>
                    <a:pt x="1999360" y="24920"/>
                    <a:pt x="2004825" y="38113"/>
                    <a:pt x="2004825" y="51870"/>
                  </a:cubicBezTo>
                  <a:lnTo>
                    <a:pt x="2004825" y="919070"/>
                  </a:lnTo>
                  <a:cubicBezTo>
                    <a:pt x="2004825" y="932826"/>
                    <a:pt x="1999360" y="946020"/>
                    <a:pt x="1989633" y="955747"/>
                  </a:cubicBezTo>
                  <a:cubicBezTo>
                    <a:pt x="1979905" y="965475"/>
                    <a:pt x="1966712" y="970940"/>
                    <a:pt x="1952955" y="970940"/>
                  </a:cubicBezTo>
                  <a:lnTo>
                    <a:pt x="51870" y="970940"/>
                  </a:lnTo>
                  <a:cubicBezTo>
                    <a:pt x="38113" y="970940"/>
                    <a:pt x="24920" y="965475"/>
                    <a:pt x="15192" y="955747"/>
                  </a:cubicBezTo>
                  <a:cubicBezTo>
                    <a:pt x="5465" y="946020"/>
                    <a:pt x="0" y="932826"/>
                    <a:pt x="0" y="919070"/>
                  </a:cubicBezTo>
                  <a:lnTo>
                    <a:pt x="0" y="51870"/>
                  </a:lnTo>
                  <a:cubicBezTo>
                    <a:pt x="0" y="38113"/>
                    <a:pt x="5465" y="24920"/>
                    <a:pt x="15192" y="15192"/>
                  </a:cubicBezTo>
                  <a:cubicBezTo>
                    <a:pt x="24920" y="5465"/>
                    <a:pt x="38113" y="0"/>
                    <a:pt x="518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004825" cy="1037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8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422100" y="2367403"/>
            <a:ext cx="874521" cy="948460"/>
          </a:xfrm>
          <a:custGeom>
            <a:avLst/>
            <a:gdLst/>
            <a:ahLst/>
            <a:cxnLst/>
            <a:rect r="r" b="b" t="t" l="l"/>
            <a:pathLst>
              <a:path h="948460" w="874521">
                <a:moveTo>
                  <a:pt x="0" y="0"/>
                </a:moveTo>
                <a:lnTo>
                  <a:pt x="874521" y="0"/>
                </a:lnTo>
                <a:lnTo>
                  <a:pt x="874521" y="948460"/>
                </a:lnTo>
                <a:lnTo>
                  <a:pt x="0" y="9484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167420" y="2334429"/>
            <a:ext cx="1158479" cy="942491"/>
          </a:xfrm>
          <a:custGeom>
            <a:avLst/>
            <a:gdLst/>
            <a:ahLst/>
            <a:cxnLst/>
            <a:rect r="r" b="b" t="t" l="l"/>
            <a:pathLst>
              <a:path h="942491" w="1158479">
                <a:moveTo>
                  <a:pt x="0" y="0"/>
                </a:moveTo>
                <a:lnTo>
                  <a:pt x="1158479" y="0"/>
                </a:lnTo>
                <a:lnTo>
                  <a:pt x="1158479" y="942491"/>
                </a:lnTo>
                <a:lnTo>
                  <a:pt x="0" y="942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72242" y="1123950"/>
            <a:ext cx="4895164" cy="29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8"/>
              </a:lnSpc>
              <a:spcBef>
                <a:spcPct val="0"/>
              </a:spcBef>
            </a:pPr>
            <a:r>
              <a:rPr lang="en-US" sz="2598" spc="-20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Sentimatix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12343" y="1123950"/>
            <a:ext cx="4715299" cy="29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8"/>
              </a:lnSpc>
              <a:spcBef>
                <a:spcPct val="0"/>
              </a:spcBef>
            </a:pPr>
            <a:r>
              <a:rPr lang="en-US" sz="2598" spc="-207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Pitch Deck Business 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7554" y="6676509"/>
            <a:ext cx="11239246" cy="215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99"/>
              </a:lnSpc>
              <a:spcBef>
                <a:spcPct val="0"/>
              </a:spcBef>
            </a:pPr>
            <a:r>
              <a:rPr lang="en-US" sz="9999" spc="-799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Our Competitive Advantage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50418" y="6650253"/>
            <a:ext cx="4013308" cy="200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8"/>
              </a:lnSpc>
            </a:pPr>
            <a:r>
              <a:rPr lang="en-US" sz="1998" spc="-10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Sentimatix is purpose-built for the Indian market — delivering institutional-grade sentiment data at a fraction of the cost of Bloomberg or Refinitiv, with a developer-first API that integrates in hours, not months.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03275" y="3890582"/>
            <a:ext cx="6767822" cy="143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6"/>
              </a:lnSpc>
            </a:pPr>
            <a:r>
              <a:rPr lang="en-US" sz="1898" i="true" spc="-68">
                <a:solidFill>
                  <a:srgbClr val="FFFFFF"/>
                </a:solidFill>
                <a:latin typeface="HK Grotesk Light Italics"/>
                <a:ea typeface="HK Grotesk Light Italics"/>
                <a:cs typeface="HK Grotesk Light Italics"/>
                <a:sym typeface="HK Grotesk Light Italics"/>
              </a:rPr>
              <a:t>Hyper-focused on Indian market nuances — NSE tickers, regional financial portals, and Telegram-native news flows. Cost-effective alternative to Bloomberg or Refinitiv terminals, making institutional-grade data accessible to quant funds and brokerages of all sizes.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02029" y="3890582"/>
            <a:ext cx="6767822" cy="143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6"/>
              </a:lnSpc>
            </a:pPr>
            <a:r>
              <a:rPr lang="en-US" sz="1898" i="true" spc="-68">
                <a:solidFill>
                  <a:srgbClr val="FFFFFF"/>
                </a:solidFill>
                <a:latin typeface="HK Grotesk Light Italics"/>
                <a:ea typeface="HK Grotesk Light Italics"/>
                <a:cs typeface="HK Grotesk Light Italics"/>
                <a:sym typeface="HK Grotesk Light Italics"/>
              </a:rPr>
              <a:t>RESTful JSON API designed for seamless integration with minimal engineering overhead. Clean documentation, sandbox access, and a free-tier Developer Portal enable rapid onboarding. Built for quant teams who want alpha signals, not infrastructure headaches.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03275" y="3111790"/>
            <a:ext cx="3691110" cy="5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5"/>
              </a:lnSpc>
            </a:pPr>
            <a:r>
              <a:rPr lang="en-US" b="true" sz="279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India-First Focus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02029" y="3111790"/>
            <a:ext cx="3691110" cy="5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5"/>
              </a:lnSpc>
            </a:pPr>
            <a:r>
              <a:rPr lang="en-US" b="true" sz="279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Developer-First API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017357" y="2428269"/>
            <a:ext cx="195032" cy="19503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016111" y="2428269"/>
            <a:ext cx="195032" cy="195032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03275" y="2428269"/>
            <a:ext cx="195032" cy="195032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802029" y="2428269"/>
            <a:ext cx="195032" cy="195032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25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298459" y="-2124232"/>
            <a:ext cx="12206465" cy="7690073"/>
          </a:xfrm>
          <a:custGeom>
            <a:avLst/>
            <a:gdLst/>
            <a:ahLst/>
            <a:cxnLst/>
            <a:rect r="r" b="b" t="t" l="l"/>
            <a:pathLst>
              <a:path h="7690073" w="12206465">
                <a:moveTo>
                  <a:pt x="0" y="0"/>
                </a:moveTo>
                <a:lnTo>
                  <a:pt x="12206465" y="0"/>
                </a:lnTo>
                <a:lnTo>
                  <a:pt x="12206465" y="7690073"/>
                </a:lnTo>
                <a:lnTo>
                  <a:pt x="0" y="76900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53882" y="4541273"/>
            <a:ext cx="16232001" cy="7669621"/>
          </a:xfrm>
          <a:custGeom>
            <a:avLst/>
            <a:gdLst/>
            <a:ahLst/>
            <a:cxnLst/>
            <a:rect r="r" b="b" t="t" l="l"/>
            <a:pathLst>
              <a:path h="7669621" w="16232001">
                <a:moveTo>
                  <a:pt x="0" y="0"/>
                </a:moveTo>
                <a:lnTo>
                  <a:pt x="16232001" y="0"/>
                </a:lnTo>
                <a:lnTo>
                  <a:pt x="16232001" y="7669621"/>
                </a:lnTo>
                <a:lnTo>
                  <a:pt x="0" y="7669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7864552"/>
            <a:ext cx="16230600" cy="149974"/>
            <a:chOff x="0" y="0"/>
            <a:chExt cx="4052983" cy="37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37450"/>
            </a:xfrm>
            <a:custGeom>
              <a:avLst/>
              <a:gdLst/>
              <a:ahLst/>
              <a:cxnLst/>
              <a:rect r="r" b="b" t="t" l="l"/>
              <a:pathLst>
                <a:path h="37450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921196" y="8574834"/>
            <a:ext cx="355174" cy="355174"/>
          </a:xfrm>
          <a:custGeom>
            <a:avLst/>
            <a:gdLst/>
            <a:ahLst/>
            <a:cxnLst/>
            <a:rect r="r" b="b" t="t" l="l"/>
            <a:pathLst>
              <a:path h="355174" w="355174">
                <a:moveTo>
                  <a:pt x="0" y="0"/>
                </a:moveTo>
                <a:lnTo>
                  <a:pt x="355174" y="0"/>
                </a:lnTo>
                <a:lnTo>
                  <a:pt x="355174" y="355174"/>
                </a:lnTo>
                <a:lnTo>
                  <a:pt x="0" y="3551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92267" y="8616762"/>
            <a:ext cx="2581084" cy="23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45"/>
              </a:lnSpc>
            </a:pPr>
            <a:r>
              <a:rPr lang="en-US" sz="1318" spc="-5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+91-7584954316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661174" y="8573398"/>
            <a:ext cx="358045" cy="358045"/>
          </a:xfrm>
          <a:custGeom>
            <a:avLst/>
            <a:gdLst/>
            <a:ahLst/>
            <a:cxnLst/>
            <a:rect r="r" b="b" t="t" l="l"/>
            <a:pathLst>
              <a:path h="358045" w="358045">
                <a:moveTo>
                  <a:pt x="0" y="0"/>
                </a:moveTo>
                <a:lnTo>
                  <a:pt x="358044" y="0"/>
                </a:lnTo>
                <a:lnTo>
                  <a:pt x="358044" y="358045"/>
                </a:lnTo>
                <a:lnTo>
                  <a:pt x="0" y="3580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307554" y="1034898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6" y="0"/>
                </a:lnTo>
                <a:lnTo>
                  <a:pt x="308536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98790" y="3465917"/>
            <a:ext cx="14331447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12000" spc="-960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Let's Build Together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7554" y="6275776"/>
            <a:ext cx="16286055" cy="122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41"/>
              </a:lnSpc>
              <a:spcBef>
                <a:spcPct val="0"/>
              </a:spcBef>
            </a:pPr>
            <a:r>
              <a:rPr lang="en-US" sz="5676" spc="1583">
                <a:solidFill>
                  <a:srgbClr val="F9F9F9"/>
                </a:solidFill>
                <a:latin typeface="Cy Grotesk Key Light"/>
                <a:ea typeface="Cy Grotesk Key Light"/>
                <a:cs typeface="Cy Grotesk Key Light"/>
                <a:sym typeface="Cy Grotesk Key Light"/>
              </a:rPr>
              <a:t>Schedule a Live Data Integration Session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35115" y="8616762"/>
            <a:ext cx="3297638" cy="23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45"/>
              </a:lnSpc>
              <a:spcBef>
                <a:spcPct val="0"/>
              </a:spcBef>
            </a:pPr>
            <a:r>
              <a:rPr lang="en-US" sz="1318" spc="-5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rishavdutta.kgp@gmail.com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7554" y="8476196"/>
            <a:ext cx="4958259" cy="77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5"/>
              </a:lnSpc>
              <a:spcBef>
                <a:spcPct val="0"/>
              </a:spcBef>
            </a:pPr>
            <a:r>
              <a:rPr lang="en-US" sz="2197" spc="-7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Developer Portal: Free API Key at </a:t>
            </a:r>
            <a:r>
              <a:rPr lang="en-US" sz="2197" spc="-76" u="sng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11" tooltip="https://sentimatix-production.up.railway.app/portal/"/>
              </a:rPr>
              <a:t>SENTIMATIX LINK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72242" y="1095375"/>
            <a:ext cx="4895164" cy="220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23"/>
              </a:lnSpc>
              <a:spcBef>
                <a:spcPct val="0"/>
              </a:spcBef>
            </a:pPr>
            <a:r>
              <a:rPr lang="en-US" sz="1904" spc="-15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Sentimatix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52317" y="1095375"/>
            <a:ext cx="2875326" cy="220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23"/>
              </a:lnSpc>
              <a:spcBef>
                <a:spcPct val="0"/>
              </a:spcBef>
            </a:pPr>
            <a:r>
              <a:rPr lang="en-US" sz="1904" spc="-15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DAHNfTBKOds</dc:identifier>
  <dcterms:modified xsi:type="dcterms:W3CDTF">2011-08-01T06:04:30Z</dcterms:modified>
  <cp:revision>1</cp:revision>
  <dc:title>Sentimatix: Indian Market Sentiment API</dc:title>
</cp:coreProperties>
</file>